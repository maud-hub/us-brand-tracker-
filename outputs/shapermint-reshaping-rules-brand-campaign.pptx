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5c0d15dfbf42c8" /><Relationship Type="http://schemas.openxmlformats.org/officeDocument/2006/relationships/extended-properties" Target="/docProps/app.xml" Id="R25f48d2175204332" /><Relationship Type="http://schemas.openxmlformats.org/officeDocument/2006/relationships/officeDocument" Target="/ppt/presentation.xml" Id="R67ca7ebbd9c141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b74e579cf44562"/>
  </p:sldMasterIdLst>
  <p:notesMasterIdLst>
    <p:notesMasterId xmlns:r="http://schemas.openxmlformats.org/officeDocument/2006/relationships" r:id="R27ca04411f704b11"/>
  </p:notesMasterIdLst>
  <p:sldIdLst>
    <p:sldId xmlns:r="http://schemas.openxmlformats.org/officeDocument/2006/relationships" id="256" r:id="R13523f08d4724cc9"/>
    <p:sldId xmlns:r="http://schemas.openxmlformats.org/officeDocument/2006/relationships" id="257" r:id="R369a92c508d64222"/>
    <p:sldId xmlns:r="http://schemas.openxmlformats.org/officeDocument/2006/relationships" id="258" r:id="Reddf7301c4b845fd"/>
    <p:sldId xmlns:r="http://schemas.openxmlformats.org/officeDocument/2006/relationships" id="259" r:id="R86340a1b123f4d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daae090d914474" /><Relationship Type="http://schemas.openxmlformats.org/officeDocument/2006/relationships/slideMaster" Target="/ppt/slideMasters/slideMaster1.xml" Id="Rd0b74e579cf44562" /><Relationship Type="http://schemas.openxmlformats.org/officeDocument/2006/relationships/notesMaster" Target="/ppt/notesMasters/notesMaster1.xml" Id="R27ca04411f704b11" /><Relationship Type="http://schemas.openxmlformats.org/officeDocument/2006/relationships/presProps" Target="/ppt/presProps.xml" Id="R048b01cf42134f41" /><Relationship Type="http://schemas.openxmlformats.org/officeDocument/2006/relationships/tableStyles" Target="/ppt/tableStyles.xml" Id="Rc6b9a0a2357c472e" /><Relationship Type="http://schemas.openxmlformats.org/officeDocument/2006/relationships/slide" Target="/ppt/slides/slide1.xml" Id="R13523f08d4724cc9" /><Relationship Type="http://schemas.openxmlformats.org/officeDocument/2006/relationships/slide" Target="/ppt/slides/slide2.xml" Id="R369a92c508d64222" /><Relationship Type="http://schemas.openxmlformats.org/officeDocument/2006/relationships/slide" Target="/ppt/slides/slide3.xml" Id="Reddf7301c4b845fd" /><Relationship Type="http://schemas.openxmlformats.org/officeDocument/2006/relationships/slide" Target="/ppt/slides/slide4.xml" Id="R86340a1b123f4d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996847d5344b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f3c3d005bd462e" /><Relationship Type="http://schemas.openxmlformats.org/officeDocument/2006/relationships/notesMaster" Target="/ppt/notesMasters/notesMaster1.xml" Id="Rded87cacad6743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835cd526b244ee" /><Relationship Type="http://schemas.openxmlformats.org/officeDocument/2006/relationships/notesMaster" Target="/ppt/notesMasters/notesMaster1.xml" Id="R481b2d1fe4d945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6d273f1a624719" /><Relationship Type="http://schemas.openxmlformats.org/officeDocument/2006/relationships/notesMaster" Target="/ppt/notesMasters/notesMaster1.xml" Id="Re622cfb380054f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6d9e246ccf4dc2" /><Relationship Type="http://schemas.openxmlformats.org/officeDocument/2006/relationships/notesMaster" Target="/ppt/notesMasters/notesMaster1.xml" Id="Rf0c426f3e8694a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dca85864fc42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5ac74bedc74da7" /><Relationship Type="http://schemas.openxmlformats.org/officeDocument/2006/relationships/slideLayout" Target="/ppt/slideLayouts/slideLayout1.xml" Id="R892122280db746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2122280db746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9484d7ec2464c" /><Relationship Type="http://schemas.openxmlformats.org/officeDocument/2006/relationships/chart" Target="/ppt/slides/charts/chart1.xml" Id="R2f117054f9d448e9" /><Relationship Type="http://schemas.openxmlformats.org/officeDocument/2006/relationships/notesSlide" Target="/ppt/notesSlides/notesSlide1.xml" Id="Rb5c40ed4b83740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897b435f544d8" /><Relationship Type="http://schemas.openxmlformats.org/officeDocument/2006/relationships/notesSlide" Target="/ppt/notesSlides/notesSlide2.xml" Id="R9d319e61e67b4e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b322f3d1e454c" /><Relationship Type="http://schemas.openxmlformats.org/officeDocument/2006/relationships/notesSlide" Target="/ppt/notesSlides/notesSlide3.xml" Id="Rd0322364e61840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599168df14fd6" /><Relationship Type="http://schemas.openxmlformats.org/officeDocument/2006/relationships/notesSlide" Target="/ppt/notesSlides/notesSlide4.xml" Id="R7a41f282232240b3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Aided</c:v>
          </c:tx>
          <c:spPr>
            <a:ln xmlns:a="http://schemas.openxmlformats.org/drawingml/2006/main" w="28575">
              <a:solidFill>
                <a:srgbClr val="EF4444"/>
              </a:solidFill>
              <a:prstDash val="solid"/>
            </a:ln>
          </c:spPr>
          <c:marker>
            <c:symbol val="none"/>
          </c:marker>
          <c:cat>
            <c:strLit>
              <c:ptCount val="3"/>
              <c:pt idx="0">
                <c:v>Q4 '25</c:v>
              </c:pt>
              <c:pt idx="1">
                <c:v>Q1 '26</c:v>
              </c:pt>
              <c:pt idx="2">
                <c:v>Q2 '26</c:v>
              </c:pt>
            </c:strLit>
          </c:cat>
          <c:val>
            <c:numLit>
              <c:formatCode>0%</c:formatCode>
              <c:ptCount val="3"/>
              <c:pt idx="0">
                <c:v>0.488</c:v>
              </c:pt>
              <c:pt idx="1">
                <c:v>0.531</c:v>
              </c:pt>
              <c:pt idx="2">
                <c:v>0.41</c:v>
              </c:pt>
            </c:numLit>
          </c:val>
        </c:ser>
        <c:ser>
          <c:idx val="1"/>
          <c:order val="1"/>
          <c:tx>
            <c:v>Unaided</c:v>
          </c:tx>
          <c:spPr>
            <a:ln xmlns:a="http://schemas.openxmlformats.org/drawingml/2006/main" w="28575">
              <a:solidFill>
                <a:srgbClr val="7C3AED"/>
              </a:solidFill>
              <a:prstDash val="solid"/>
            </a:ln>
          </c:spPr>
          <c:marker>
            <c:symbol val="none"/>
          </c:marker>
          <c:cat>
            <c:strLit>
              <c:ptCount val="3"/>
              <c:pt idx="0">
                <c:v>Q4 '25</c:v>
              </c:pt>
              <c:pt idx="1">
                <c:v>Q1 '26</c:v>
              </c:pt>
              <c:pt idx="2">
                <c:v>Q2 '26</c:v>
              </c:pt>
            </c:strLit>
          </c:cat>
          <c:val>
            <c:numLit>
              <c:formatCode>0%</c:formatCode>
              <c:ptCount val="3"/>
              <c:pt idx="0">
                <c:v>0.08</c:v>
              </c:pt>
              <c:pt idx="1">
                <c:v>0.1</c:v>
              </c:pt>
              <c:pt idx="2">
                <c:v>0.11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7DED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2526B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DED2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E7DED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2526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solidFill>
            <a:srgbClr val="000000">
              <a:alpha val="0"/>
            </a:srgbClr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42526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solidFill>
        <a:srgbClr val="000000">
          <a:alpha val="0"/>
        </a:srgbClr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1A6463-D4C1-40EA-AB81-AB9BB01B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BRAND CAMPAIGN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6BE03-E137-4994-B5E9-109FA251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A campaign can lift awareness only if it gives Shapermint a sharper memory.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F1C81-F8BA-44BC-A7FD-8F7BA5A9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Q2 shows a small unaided gain but a broad aided-awareness reset. The opportunity is not more impressions alone; it is making Shapermint mean something Spanx and Skims do not already own.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8AC6B-9795-4C9B-8941-C2E706CE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95892-E263-43AA-82FE-21ADCA1F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Unaided awareness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3F1BB-9ED9-4732-BBF3-8D00201D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8B861-7148-4264-80E3-1D71B72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11%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4C247-0E51-42C2-8E5E-DEBFB0F9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+1pp QoQ, still 27pp behind Spanx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FDF99-38C1-4F3C-A7CA-F0C4F4AA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DB02E-E893-4E36-ABE4-DDD7267B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Aided awareness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F43E4-11A4-45F7-A4F4-47FE7759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CC007-6428-4D2D-9A18-440741D1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41%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DE7BD-F62F-43E0-9F8B-6F95BBCE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-12pp QoQ; broad category 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3B35F-C445-4E51-8760-C98D6083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CF4BF-3924-48DC-BBDE-F40B2570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Never heard Shapermint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B9F8C-DC68-44AC-A302-CA1A8759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2A3458-7BA0-4128-ACF8-6285CA92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58.7%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7BFF9-CEA2-4B08-A6D6-C9320295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Brand familiarity is the purchase barrier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EA9E16-2B23-4B54-ACF4-4638E651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F41CEB-5C30-4B41-81E1-F06F9614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Would consider buying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BA7F55-7991-4E0C-9B81-53B37821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EA9BD-3048-469C-B648-594D6821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20.3%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06ADCA-F36E-431D-A7FE-0ACCA7EC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Purchase intent trails awareness</a:t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742950" y="3981450"/>
          <a:ext xmlns:a="http://schemas.openxmlformats.org/drawingml/2006/main" cx="6096000" cy="2038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117054f9d448e9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F71565-1059-418A-8EE2-18E6DB68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3905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1A3C7-537E-44DE-A505-7DB9F06E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2672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Campaign implication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D285D0-CE60-485C-A27C-D415C884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610100"/>
            <a:ext cx="3295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Reshaping the Rules should create a repeatable brand cue: Shapermint adapts to her body and life, instead of asking her to adapt.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7359E5-77D0-461F-B2A1-7707A1F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raw XLS/user-supplied tracker update; Q4 2025 table image; dashboard data model.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3AE4A4-C534-4342-825A-7310952F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9229153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066B6DA-6D63-4624-81E3-AA5E3CD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Q17-Q19 DEEP DIVE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03AEA-90EE-4675-98EB-E292AA38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The category tension is clear, but no brand owns the way out.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14A300-3A05-4237-B1A2-72CC8F25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Respondents say shapewear still feels corrective, younger-skewed, and compromise-driven. Shapermint is not yet the brand that resolves that tension.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D5953-4747-4C6F-A37A-4DD05AB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Q17: Category 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1F4DE-1DC1-488D-86C2-67D602BA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Looks slimmer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04D3D-A757-4868-96AF-9BBB1370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5267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9EB5B-BDDA-4140-8112-D97B72DB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52675"/>
            <a:ext cx="102412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C8ED0-BDBD-4870-8CC7-C2E6958E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728" y="236220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50042-C684-4DC3-A1D4-A5F729A3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0703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Designed younger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F43DD-2888-4189-B115-13231FAE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655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82C3B-9DA1-4EA9-B0A1-88AAF0A3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6555"/>
            <a:ext cx="618744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FE69E-FAD1-416C-9F09-6928C1FA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344" y="292608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2DFB2-BF17-43A4-BEE8-CDAB46D2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7091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Misses life stage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A9FAF-0C2F-4451-811F-59776DFE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8043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09C84-E181-44E0-96E4-AFEF3220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80435"/>
            <a:ext cx="600456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BED12-3979-4E08-8612-7A0CE09E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056" y="348996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E164F7-444A-4BBA-B3F1-9F0CBDA0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479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Changes bodies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BCA55-2C91-4586-9BFB-506ACB1B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4431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FC6B0-2985-4075-B832-9C468967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44315"/>
            <a:ext cx="52120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6A0F08-72E5-44FE-AC1D-B6C2BCCA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808" y="405384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17%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785522-7F1B-46CE-9A94-326A4319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9867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Compromise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B8F50E-51E6-476D-B253-90B2052A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0819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76632D-2E9C-4DE9-B465-F8663F7E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08195"/>
            <a:ext cx="289560" cy="41148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145A52-24AD-4EEA-93F2-680E5A8D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61772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1BF97F-1802-4C22-995B-1598D8D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Q18: Brand moving beyond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290566-9AC8-4BF0-90EF-2495F803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431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No brand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9D99C-493D-46EE-BE8F-24DFA849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526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D67AB9-7A0C-4115-AEAC-99F5853B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52675"/>
            <a:ext cx="1370923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460A0-F57B-4899-86CF-D8D16EC8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9723" y="23622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19474B-C0EC-4A77-8C7A-9B80D741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130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Spanx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7FBE8A-14EC-43AC-9CCB-B2CFEE32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25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D7772A-F6FE-409F-8FCD-CFF5396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2575"/>
            <a:ext cx="67056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4A52F0-9788-4FDA-B846-4BD2FFF8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321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18%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FDE17C-9FBD-44D0-9600-C752506E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829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Skims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123A46-38E0-4606-9B9E-DA06ED02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924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D38C7F-8DBD-4BAC-AA12-981BD802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92475"/>
            <a:ext cx="577427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F06058-F19F-4EFC-BFC5-86F17DE9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6227" y="33020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8C663E-2996-43F9-A496-EB861978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Maidenform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ED67E9-D55A-4B85-953E-E16A294B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623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E50F1A-7182-48F2-B5EB-1E34BDD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62375"/>
            <a:ext cx="454491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356744-B35E-4E55-B705-A692039D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291" y="37719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12%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27F0D8-BA41-4147-9947-C80CDF62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227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Honeylove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C500A7-17DB-4183-B5D0-CAF76BCA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22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7EDB1F-45FB-44BC-8586-5FBDD659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2275"/>
            <a:ext cx="331555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5E6186-1C67-4E85-A5CC-31F1399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0355" y="42418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9%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2635F6-126C-4C04-BBC9-293CF20A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926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Shapermint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EF794D-756C-47E8-BA1E-FF07ECE2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021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D2FCD06-D26B-488A-9600-858B72C2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02175"/>
            <a:ext cx="257048" cy="317500"/>
          </a:xfrm>
          <a:prstGeom xmlns:a="http://schemas.openxmlformats.org/drawingml/2006/main" prst="roundRect">
            <a:avLst>
              <a:gd name="adj" fmla="val 74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1BB095-FEB7-4696-A26F-46885270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848" y="47117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7%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F0FF48-1FFF-416D-8650-DE5E96CF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Q19: Campaign hooks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BA8905-E379-4DBE-BC73-1A40EC31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4315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Adapts to body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9D68A4-5154-4723-96A5-E21D4546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5267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C93284-1BF5-4988-A0D5-488874FA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52675"/>
            <a:ext cx="1433322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5FC0D9-1120-4D01-A30F-EFC67AA5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8322" y="236220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792CAD-FCE6-4DA7-885C-4AA20AF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0703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Understands stage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F686092-F6CE-4F39-AF12-6109D17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1655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256AD4-A90E-4053-9CFD-6EBA104B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16555"/>
            <a:ext cx="1419352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CFCECEE-CAC6-4672-99B2-C294661C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352" y="292608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BE6FFC-2B8D-4F2F-926D-1FD10A52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091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Comfort powerful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8AF5BE3-C9FA-45D9-A329-2644A3F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8043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75B672-0C5A-48DF-B397-B24AEFDB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80435"/>
            <a:ext cx="117906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BB5E832-436B-466C-A3FB-1678AB3C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068" y="348996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42%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92116F-08FF-461E-A2D2-04598581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3479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Stop thinking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9E9D22B-DD50-4DF1-862F-8F97744B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4431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CAD8FA1-559A-41CF-9202-65D84439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44315"/>
            <a:ext cx="73202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BE7D098-36DB-4B2A-B721-60808A54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028" y="405384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26%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96565C-A6D9-4917-AF54-11C252FB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867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Own terms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BC56F77-7186-459B-89E7-68FD2D5E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60819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9CB0402-A009-4CA6-8CE8-EEF18935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608195"/>
            <a:ext cx="57277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57C6420-726D-4720-8292-850A4DC5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7770" y="461772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21%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EC49B6C-975B-4AE3-9C0A-698710B1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11F"/>
                </a:solidFill>
              </a:defRPr>
            </a:pPr>
            <a:r>
              <a:rPr sz="1800" b="1">
                <a:solidFill>
                  <a:srgbClr val="07111F"/>
                </a:solidFill>
              </a:rPr>
              <a:t>The brief practically writes itself: lead with adaptation, life stage, and powerful comfort. Do not lead with slimming.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2CD50F4-1C7E-4469-AFA5-F3A96937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Brand Tracker export-10197.xls, Q17-Q19 aggregate tables.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3DC42B-9790-4BFB-AEFE-4F090ADB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5574280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EB4067-55CF-4BFF-AFED-CBDA99AF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AGE MIX IS A REAL HYPOTHESIS, BUT NOT YET THE AGE SPLIT WE NEED.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26E42B-D03B-4F57-891B-BB029521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Q34 points to a sample-mix effect; Q17-Q19 age splits need raw data.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6D053-FDD9-4988-AD05-DB9A155D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The Q2 sample is 80% 40+, up from 62% in Q4. That can contribute to broad aided-awareness softness, but it is not a substitute for a Q17-Q19 x age crosstab.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CA5E2-70B8-413E-B447-3ED9AC83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876300" cy="13634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4"/>
          </a:solidFill>
          <a:ln xmlns:a="http://schemas.openxmlformats.org/drawingml/2006/main" w="0">
            <a:solidFill>
              <a:srgbClr val="D8CF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468F1-B1FE-42E4-BDFE-4C289BD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44697"/>
            <a:ext cx="876300" cy="8463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EC0BE-CAAA-4019-B2E4-6498CE33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</a:defRPr>
            </a:pPr>
            <a:r>
              <a:rPr sz="1050" b="1">
                <a:solidFill>
                  <a:srgbClr val="07111F"/>
                </a:solidFill>
              </a:rPr>
              <a:t>62%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39908-19E3-405B-9B50-7F7EF32B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2623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C22F4-DCA0-48A8-AB68-FDB62A4F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Q4 '25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C33F0-7116-4323-B00D-DAA38B3A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381250"/>
            <a:ext cx="876300" cy="15755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4"/>
          </a:solidFill>
          <a:ln xmlns:a="http://schemas.openxmlformats.org/drawingml/2006/main" w="0">
            <a:solidFill>
              <a:srgbClr val="D8CF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2AB83-AE98-438D-AA30-78D3BFF4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956837"/>
            <a:ext cx="876300" cy="634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622CD-E1DC-4AEF-80E4-7CB659EF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628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</a:defRPr>
            </a:pPr>
            <a:r>
              <a:rPr sz="1050" b="1">
                <a:solidFill>
                  <a:srgbClr val="07111F"/>
                </a:solidFill>
              </a:rPr>
              <a:t>71%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3CF59-F936-478D-BCC0-D5D055D4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178694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29%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30004-032E-44B6-A4E2-4B69EC5A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625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Q1 '26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287D7-25CC-4EDD-A9CC-DCB3DEAC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81250"/>
            <a:ext cx="876300" cy="1763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4"/>
          </a:solidFill>
          <a:ln xmlns:a="http://schemas.openxmlformats.org/drawingml/2006/main" w="0">
            <a:solidFill>
              <a:srgbClr val="D8CF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1A2C5-4828-418A-BC98-47021B1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44670"/>
            <a:ext cx="876300" cy="446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0F8FE-C966-4691-906C-A6BB10DB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28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7111F"/>
                </a:solidFill>
              </a:defRPr>
            </a:pPr>
            <a:r>
              <a:rPr sz="1050" b="1">
                <a:solidFill>
                  <a:srgbClr val="07111F"/>
                </a:solidFill>
              </a:rPr>
              <a:t>80%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5686E3-5A00-4FFF-9B1F-53975FEC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7261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69CE3-2DE3-43CD-960D-091471B0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625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Q2 '26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D354F-3C5F-4A95-BBDA-7666E84E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2526B"/>
                </a:solidFill>
              </a:defRPr>
            </a:pPr>
            <a:r>
              <a:rPr sz="1050" b="1">
                <a:solidFill>
                  <a:srgbClr val="42526B"/>
                </a:solidFill>
              </a:rPr>
              <a:t>40+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D53E7A-5500-4018-B28D-5CE93E94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86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C3AED"/>
                </a:solidFill>
              </a:defRPr>
            </a:pPr>
            <a:r>
              <a:rPr sz="1050" b="1">
                <a:solidFill>
                  <a:srgbClr val="7C3AED"/>
                </a:solidFill>
              </a:rPr>
              <a:t>Under 40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82BE0D-AB30-4BBC-9069-83B87DAD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1455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C87B20-C433-4E85-8EB3-834F63BD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Sample mix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CF1F94-010B-4718-B290-8CBCD606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288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Under-40 share fell to 20.2% in Q2. That can depress recall for brands with younger/social-led memory.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36BE64-7924-44CC-86EA-E7F3537C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3370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CA9AD-C2B6-46FD-8937-C48C48E7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Broad aided reset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1A1796-B2D4-4B4C-954E-D7209084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Shapermint, Spanx, Skims, Maidenform, and Honeylove all fell on aided awareness, pointing to tracker/sample/context too.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0402B-3880-4D14-A7A9-A2771947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5285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08A22C-BD10-4EA1-85E3-393C7B07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Timing &amp; attention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17A67B-4381-4639-9444-841538BB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Later fielding, summer travel, Prime Day/deal mode, and media distraction could soften recognition across brands.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3EC5CB-FFB1-4A7F-B7DA-A763B863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7200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0CC5C2-DDD1-4BE4-945B-4C3AB0F2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Question framing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157451-6ABF-4AD9-83FB-AECA6E62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8630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The Q17-Q19 category critique may prime respondents to be less generous about brand familiarity and differentiation.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00366E-E8CA-492D-AB65-40E78703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562600"/>
            <a:ext cx="3238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C5EAE-6469-4EF2-B53D-490A441A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62927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Need: Q17-Q19 x Q34 raw/crosstab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DF51D6-FFE7-4D2E-964A-6163C9DE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Q34 age tables from Q4 2025, Q1 2026, and Q2 2026 tracker exports. Q17-Q19 age crosstab not present in supplied XLS.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C6CE09-E16B-46AD-87AE-06A6FCF2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4973811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60F184-98C2-4BDD-A93D-995366C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MAKE SHAPERMINT THE BRAND THAT STOPS ASKING WOMEN TO ADAPT.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C6966-07F2-4A96-8202-41FD2ED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Reshaping the Rules should be built as a memory system, not a one-off message.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E92E5-5060-4A7B-B57D-337E1E99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CA61C-F1E4-4729-BCEE-AAAC9191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6009F-0D81-4BC9-8A51-E17EFE31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2F0FF-B304-40DC-9ECA-55BB281C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Single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79E4E-AAAC-422B-8926-EC582A1A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527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Shapermint adapts to my body and life stage.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12E86-8707-41CF-B35E-2A914F9F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5A173-8B90-4E98-A56A-14F25A27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0980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EBEA8-9139-4913-888A-D8077DEE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7647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67663-D2B6-47BB-85A7-F087F2CF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Proof 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001EE0-D432-4D6A-96C4-0D017AE2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Medium compression, everyday comfort, fit flexibility, and real-life movement.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AF4BF7-E82C-4B00-A674-23791B83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25AF9-69D7-4BF3-8AD2-ED869AFE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E06A8-E090-4AB1-8238-58C3BE39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2902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83D19-0D8D-452A-89F9-B645FDFD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Brand cues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04F05-982A-497F-AC3D-11D25681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Repeat one phrase, one visual grammar, and one product proof everywhere.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89CB1-FF4D-4186-9AEF-859A4A1C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9090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EEBD66-88BD-460E-AAB9-AAE2A8D8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6235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66E74-73EA-42F5-AED6-A19DA8F7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2902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1D4A5-9C0D-4E1B-BA37-D1A749A8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Media reinforcement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E4B298-030F-4D4B-984B-EF2499F0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052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Use Facebook + search for reach, Amazon/retail for proof, TikTok for selective top-funnel testing.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81CD4-C32E-4943-9E0F-765025CD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86350"/>
            <a:ext cx="9620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7C4B00-3A74-4895-8737-485249F9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95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Measurement plan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2B1FBC-EF1C-4A06-8CD8-45DD39E7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25780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Track aided + unaided lift, Q18 'Shapermint is moving beyond' share, Q19 hook recall, purchase intent, and Q17-Q19 by age once raw data is available.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BBD624-CAA9-4521-9468-C7CB8A37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Brand Tracker Q17-Q19, Q13-Q14, Q22-Q23; campaign recommendation synthesized from tracker evidence.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D863D0-3A55-4283-8761-DC844BD9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1032950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2026-07-20T10:51:43.2160000Z</dcterms:created>
  <dcterms:modified xsi:type="dcterms:W3CDTF">2026-07-20T10:51:43.2160000Z</dcterms:modified>
</coreProperties>
</file>