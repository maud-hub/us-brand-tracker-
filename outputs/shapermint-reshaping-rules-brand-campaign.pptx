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5d188d37a24697" /><Relationship Type="http://schemas.openxmlformats.org/officeDocument/2006/relationships/extended-properties" Target="/docProps/app.xml" Id="R541ec25cf17e4883" /><Relationship Type="http://schemas.openxmlformats.org/officeDocument/2006/relationships/officeDocument" Target="/ppt/presentation.xml" Id="R1b5be944a4364f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53a1411074482e"/>
  </p:sldMasterIdLst>
  <p:notesMasterIdLst>
    <p:notesMasterId xmlns:r="http://schemas.openxmlformats.org/officeDocument/2006/relationships" r:id="Rf8f2981b005040d2"/>
  </p:notesMasterIdLst>
  <p:sldIdLst>
    <p:sldId xmlns:r="http://schemas.openxmlformats.org/officeDocument/2006/relationships" id="256" r:id="Rb39b025abba54b94"/>
    <p:sldId xmlns:r="http://schemas.openxmlformats.org/officeDocument/2006/relationships" id="257" r:id="R40135b14c7dd4d2f"/>
    <p:sldId xmlns:r="http://schemas.openxmlformats.org/officeDocument/2006/relationships" id="258" r:id="R8c1a094924ca4c79"/>
    <p:sldId xmlns:r="http://schemas.openxmlformats.org/officeDocument/2006/relationships" id="259" r:id="R3226251d92754ea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daeba27a7b405a" /><Relationship Type="http://schemas.openxmlformats.org/officeDocument/2006/relationships/slideMaster" Target="/ppt/slideMasters/slideMaster1.xml" Id="R3b53a1411074482e" /><Relationship Type="http://schemas.openxmlformats.org/officeDocument/2006/relationships/notesMaster" Target="/ppt/notesMasters/notesMaster1.xml" Id="Rf8f2981b005040d2" /><Relationship Type="http://schemas.openxmlformats.org/officeDocument/2006/relationships/presProps" Target="/ppt/presProps.xml" Id="Rf95d103355ec4a3f" /><Relationship Type="http://schemas.openxmlformats.org/officeDocument/2006/relationships/tableStyles" Target="/ppt/tableStyles.xml" Id="R4bbb51c3c37948ba" /><Relationship Type="http://schemas.openxmlformats.org/officeDocument/2006/relationships/slide" Target="/ppt/slides/slide1.xml" Id="Rb39b025abba54b94" /><Relationship Type="http://schemas.openxmlformats.org/officeDocument/2006/relationships/slide" Target="/ppt/slides/slide2.xml" Id="R40135b14c7dd4d2f" /><Relationship Type="http://schemas.openxmlformats.org/officeDocument/2006/relationships/slide" Target="/ppt/slides/slide3.xml" Id="R8c1a094924ca4c79" /><Relationship Type="http://schemas.openxmlformats.org/officeDocument/2006/relationships/slide" Target="/ppt/slides/slide4.xml" Id="R3226251d92754e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bd19cef24345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a7017ab23e4a58" /><Relationship Type="http://schemas.openxmlformats.org/officeDocument/2006/relationships/notesMaster" Target="/ppt/notesMasters/notesMaster1.xml" Id="Rd8212ebcc7ed47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021936ad2643e6" /><Relationship Type="http://schemas.openxmlformats.org/officeDocument/2006/relationships/notesMaster" Target="/ppt/notesMasters/notesMaster1.xml" Id="R5136f5a485364c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73d85771c74b9f" /><Relationship Type="http://schemas.openxmlformats.org/officeDocument/2006/relationships/notesMaster" Target="/ppt/notesMasters/notesMaster1.xml" Id="Ra820d3009b5544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e8d15cb97b43c0" /><Relationship Type="http://schemas.openxmlformats.org/officeDocument/2006/relationships/notesMaster" Target="/ppt/notesMasters/notesMaster1.xml" Id="Rad5db5e022f54e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dad8ef63142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61032c85184c53" /><Relationship Type="http://schemas.openxmlformats.org/officeDocument/2006/relationships/slideLayout" Target="/ppt/slideLayouts/slideLayout1.xml" Id="R78b806a3155248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b806a3155248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1736ad0a541ce" /><Relationship Type="http://schemas.openxmlformats.org/officeDocument/2006/relationships/chart" Target="/ppt/slides/charts/chart1.xml" Id="R3b8ff60581ad4205" /><Relationship Type="http://schemas.openxmlformats.org/officeDocument/2006/relationships/notesSlide" Target="/ppt/notesSlides/notesSlide1.xml" Id="R605b10b9f8ca4c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2583fe5aa4660" /><Relationship Type="http://schemas.openxmlformats.org/officeDocument/2006/relationships/notesSlide" Target="/ppt/notesSlides/notesSlide2.xml" Id="R6fdb13415c4c48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9d7670a124b60" /><Relationship Type="http://schemas.openxmlformats.org/officeDocument/2006/relationships/notesSlide" Target="/ppt/notesSlides/notesSlide3.xml" Id="R5ae74bf2708644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999ef60444f2e" /><Relationship Type="http://schemas.openxmlformats.org/officeDocument/2006/relationships/notesSlide" Target="/ppt/notesSlides/notesSlide4.xml" Id="R224014f45cd649bf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Aided</c:v>
          </c:tx>
          <c:spPr>
            <a:ln xmlns:a="http://schemas.openxmlformats.org/drawingml/2006/main" w="28575">
              <a:solidFill>
                <a:srgbClr val="EF4444"/>
              </a:solidFill>
              <a:prstDash val="solid"/>
            </a:ln>
          </c:spPr>
          <c:marker>
            <c:symbol val="none"/>
          </c:marker>
          <c:cat>
            <c:strLit>
              <c:ptCount val="3"/>
              <c:pt idx="0">
                <c:v>Q4 '25</c:v>
              </c:pt>
              <c:pt idx="1">
                <c:v>Q1 '26</c:v>
              </c:pt>
              <c:pt idx="2">
                <c:v>Q2 '26</c:v>
              </c:pt>
            </c:strLit>
          </c:cat>
          <c:val>
            <c:numLit>
              <c:formatCode>0%</c:formatCode>
              <c:ptCount val="3"/>
              <c:pt idx="0">
                <c:v>0.488</c:v>
              </c:pt>
              <c:pt idx="1">
                <c:v>0.531</c:v>
              </c:pt>
              <c:pt idx="2">
                <c:v>0.41</c:v>
              </c:pt>
            </c:numLit>
          </c:val>
        </c:ser>
        <c:ser>
          <c:idx val="1"/>
          <c:order val="1"/>
          <c:tx>
            <c:v>Unaided</c:v>
          </c:tx>
          <c:spPr>
            <a:ln xmlns:a="http://schemas.openxmlformats.org/drawingml/2006/main" w="28575">
              <a:solidFill>
                <a:srgbClr val="7C3AED"/>
              </a:solidFill>
              <a:prstDash val="solid"/>
            </a:ln>
          </c:spPr>
          <c:marker>
            <c:symbol val="none"/>
          </c:marker>
          <c:cat>
            <c:strLit>
              <c:ptCount val="3"/>
              <c:pt idx="0">
                <c:v>Q4 '25</c:v>
              </c:pt>
              <c:pt idx="1">
                <c:v>Q1 '26</c:v>
              </c:pt>
              <c:pt idx="2">
                <c:v>Q2 '26</c:v>
              </c:pt>
            </c:strLit>
          </c:cat>
          <c:val>
            <c:numLit>
              <c:formatCode>0%</c:formatCode>
              <c:ptCount val="3"/>
              <c:pt idx="0">
                <c:v>0.08</c:v>
              </c:pt>
              <c:pt idx="1">
                <c:v>0.1</c:v>
              </c:pt>
              <c:pt idx="2">
                <c:v>0.11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7DED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2526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DED2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E7DED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2526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solidFill>
            <a:srgbClr val="000000">
              <a:alpha val="0"/>
            </a:srgbClr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2526B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solidFill>
        <a:srgbClr val="000000">
          <a:alpha val="0"/>
        </a:srgbClr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1A6463-D4C1-40EA-AB81-AB9BB01B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BRAND CAMPAIGN READ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6BE03-E137-4994-B5E9-109FA251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7111F"/>
                </a:solidFill>
              </a:defRPr>
            </a:pPr>
            <a:r>
              <a:rPr sz="3000" b="1">
                <a:solidFill>
                  <a:srgbClr val="07111F"/>
                </a:solidFill>
              </a:rPr>
              <a:t>A campaign can lift awareness only if it gives Shapermint a sharper memory.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F1C81-F8BA-44BC-A7FD-8F7BA5A9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42526B"/>
                </a:solidFill>
              </a:defRPr>
            </a:pPr>
            <a:r>
              <a:rPr sz="1350">
                <a:solidFill>
                  <a:srgbClr val="42526B"/>
                </a:solidFill>
              </a:rPr>
              <a:t>Q2 shows a small unaided gain but a broad aided-awareness reset. The opportunity is not more impressions alone; it is making Shapermint mean something Spanx and Skims do not already own.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8AC6B-9795-4C9B-8941-C2E706CE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247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95892-E263-43AA-82FE-21ADCA1F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2526B"/>
                </a:solidFill>
              </a:defRPr>
            </a:pPr>
            <a:r>
              <a:rPr sz="975" b="1">
                <a:solidFill>
                  <a:srgbClr val="42526B"/>
                </a:solidFill>
              </a:rPr>
              <a:t>Unaided awareness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3F1BB-9ED9-4732-BBF3-8D00201D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38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8B861-7148-4264-80E3-1D71B722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11%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4C247-0E51-42C2-8E5E-DEBFB0F9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42526B"/>
                </a:solidFill>
              </a:defRPr>
            </a:pPr>
            <a:r>
              <a:rPr sz="1125">
                <a:solidFill>
                  <a:srgbClr val="42526B"/>
                </a:solidFill>
              </a:rPr>
              <a:t>+1pp QoQ, still 27pp behind Spanx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FDF99-38C1-4F3C-A7CA-F0C4F4AA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47900"/>
            <a:ext cx="247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DB02E-E893-4E36-ABE4-DDD7267B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03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2526B"/>
                </a:solidFill>
              </a:defRPr>
            </a:pPr>
            <a:r>
              <a:rPr sz="975" b="1">
                <a:solidFill>
                  <a:srgbClr val="42526B"/>
                </a:solidFill>
              </a:rPr>
              <a:t>Aided awareness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F43E4-11A4-45F7-A4F4-47FE7759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38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CC007-6428-4D2D-9A18-440741D1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479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41%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DE7BD-F62F-43E0-9F8B-6F95BBCE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861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42526B"/>
                </a:solidFill>
              </a:defRPr>
            </a:pPr>
            <a:r>
              <a:rPr sz="1125">
                <a:solidFill>
                  <a:srgbClr val="42526B"/>
                </a:solidFill>
              </a:rPr>
              <a:t>-12pp QoQ; broad category drop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3B35F-C445-4E51-8760-C98D6083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47900"/>
            <a:ext cx="247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7CF4BF-3924-48DC-BBDE-F40B2570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003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2526B"/>
                </a:solidFill>
              </a:defRPr>
            </a:pPr>
            <a:r>
              <a:rPr sz="975" b="1">
                <a:solidFill>
                  <a:srgbClr val="42526B"/>
                </a:solidFill>
              </a:rPr>
              <a:t>Never heard Shapermint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B9F8C-DC68-44AC-A302-CA1A8759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38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A3458-7BA0-4128-ACF8-6285CA92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479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58.7%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7BFF9-CEA2-4B08-A6D6-C9320295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61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42526B"/>
                </a:solidFill>
              </a:defRPr>
            </a:pPr>
            <a:r>
              <a:rPr sz="1125">
                <a:solidFill>
                  <a:srgbClr val="42526B"/>
                </a:solidFill>
              </a:rPr>
              <a:t>Brand familiarity is the purchase barrier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A9E16-2B23-4B54-ACF4-4638E651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247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F41CEB-5C30-4B41-81E1-F06F9614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2526B"/>
                </a:solidFill>
              </a:defRPr>
            </a:pPr>
            <a:r>
              <a:rPr sz="975" b="1">
                <a:solidFill>
                  <a:srgbClr val="42526B"/>
                </a:solidFill>
              </a:rPr>
              <a:t>Would consider buying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BA7F55-7991-4E0C-9B81-53B37821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38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EEA9BD-3048-469C-B648-594D6821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20.3%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06ADCA-F36E-431D-A7FE-0ACCA7EC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42526B"/>
                </a:solidFill>
              </a:defRPr>
            </a:pPr>
            <a:r>
              <a:rPr sz="1125">
                <a:solidFill>
                  <a:srgbClr val="42526B"/>
                </a:solidFill>
              </a:rPr>
              <a:t>Purchase intent trails awareness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742950" y="3981450"/>
          <a:ext xmlns:a="http://schemas.openxmlformats.org/drawingml/2006/main" cx="6096000" cy="2038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8ff60581ad4205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F71565-1059-418A-8EE2-18E6DB68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3905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0C1726"/>
          </a:solidFill>
          <a:ln xmlns:a="http://schemas.openxmlformats.org/drawingml/2006/main" w="0">
            <a:solidFill>
              <a:srgbClr val="0C17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41A3C7-537E-44DE-A505-7DB9F06E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6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Campaign implication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D285D0-CE60-485C-A27C-D415C884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10100"/>
            <a:ext cx="3295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Reshaping the Rules should create a repeatable brand cue: Shapermint adapts to her body and life, instead of asking her to adapt.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7359E5-77D0-461F-B2A1-7707A1F1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B7280"/>
                </a:solidFill>
              </a:defRPr>
            </a:pPr>
            <a:r>
              <a:rPr sz="825">
                <a:solidFill>
                  <a:srgbClr val="6B7280"/>
                </a:solidFill>
              </a:rPr>
              <a:t>Source: Q2 2026 raw XLS/user-supplied tracker update; Q4 2025 table image; dashboard data model.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3AE4A4-C534-4342-825A-7310952F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51510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42526B"/>
                </a:solidFill>
              </a:defRPr>
            </a:pPr>
            <a:r>
              <a:rPr sz="825" b="1">
                <a:solidFill>
                  <a:srgbClr val="42526B"/>
                </a:solidFill>
              </a:rPr>
              <a:t>US Brand Tracker | Shapermint</a:t>
            </a:r>
          </a:p>
        </p:txBody>
      </p:sp>
    </p:spTree>
    <p:extLst>
      <p:ext uri="{BB962C8B-B14F-4D97-AF65-F5344CB8AC3E}">
        <p14:creationId xmlns:p14="http://schemas.microsoft.com/office/powerpoint/2010/main" val="9229153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066B6DA-6D63-4624-81E3-AA5E3CD3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Q17-Q19 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03AEA-90EE-4675-98EB-E292AA38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7111F"/>
                </a:solidFill>
              </a:defRPr>
            </a:pPr>
            <a:r>
              <a:rPr sz="3000" b="1">
                <a:solidFill>
                  <a:srgbClr val="07111F"/>
                </a:solidFill>
              </a:rPr>
              <a:t>The category tension is clear, but no brand owns the way 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4A300-3A05-4237-B1A2-72CC8F25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42526B"/>
                </a:solidFill>
              </a:defRPr>
            </a:pPr>
            <a:r>
              <a:rPr sz="1350">
                <a:solidFill>
                  <a:srgbClr val="42526B"/>
                </a:solidFill>
              </a:rPr>
              <a:t>Respondents say shapewear still feels corrective, younger-skewed, and compromise-driven. Shapermint is not yet the brand that resolves that tension.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D5953-4747-4C6F-A37A-4DD05ABA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Q17: Category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1F4DE-1DC1-488D-86C2-67D602BA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108585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42526B"/>
                </a:solidFill>
              </a:defRPr>
            </a:pPr>
            <a:r>
              <a:rPr sz="825">
                <a:solidFill>
                  <a:srgbClr val="42526B"/>
                </a:solidFill>
              </a:rPr>
              <a:t>Looks slimmer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04D3D-A757-4868-96AF-9BBB1370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52675"/>
            <a:ext cx="1676400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0">
            <a:solidFill>
              <a:srgbClr val="F3E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9EB5B-BDDA-4140-8112-D97B72DB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52675"/>
            <a:ext cx="1024128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EC489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C8ED0-BDBD-4870-8CC7-C2E6958E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28" y="2362200"/>
            <a:ext cx="41910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50042-C684-4DC3-A1D4-A5F729A3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07030"/>
            <a:ext cx="108585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42526B"/>
                </a:solidFill>
              </a:defRPr>
            </a:pPr>
            <a:r>
              <a:rPr sz="825">
                <a:solidFill>
                  <a:srgbClr val="42526B"/>
                </a:solidFill>
              </a:rPr>
              <a:t>Designed younger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F43DD-2888-4189-B115-13231FAE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16555"/>
            <a:ext cx="1676400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0">
            <a:solidFill>
              <a:srgbClr val="F3E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82C3B-9DA1-4EA9-B0A1-88AAF0A3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16555"/>
            <a:ext cx="618744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EC489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FE69E-FAD1-416C-9F09-6928C1FA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344" y="2926080"/>
            <a:ext cx="41910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2DFB2-BF17-43A4-BEE8-CDAB46D2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0910"/>
            <a:ext cx="108585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42526B"/>
                </a:solidFill>
              </a:defRPr>
            </a:pPr>
            <a:r>
              <a:rPr sz="825">
                <a:solidFill>
                  <a:srgbClr val="42526B"/>
                </a:solidFill>
              </a:rPr>
              <a:t>Misses life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A9FAF-0C2F-4451-811F-59776DFE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80435"/>
            <a:ext cx="1676400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0">
            <a:solidFill>
              <a:srgbClr val="F3E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09C84-E181-44E0-96E4-AFEF3220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80435"/>
            <a:ext cx="600456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EC489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BED12-3979-4E08-8612-7A0CE09E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056" y="3489960"/>
            <a:ext cx="41910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164F7-444A-4BBA-B3F1-9F0CBDA0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4790"/>
            <a:ext cx="108585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42526B"/>
                </a:solidFill>
              </a:defRPr>
            </a:pPr>
            <a:r>
              <a:rPr sz="825">
                <a:solidFill>
                  <a:srgbClr val="42526B"/>
                </a:solidFill>
              </a:rPr>
              <a:t>Changes bodies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BCA55-2C91-4586-9BFB-506ACB1B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44315"/>
            <a:ext cx="1676400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0">
            <a:solidFill>
              <a:srgbClr val="F3EC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FC6B0-2985-4075-B832-9C468967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44315"/>
            <a:ext cx="521208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EC489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A0F08-72E5-44FE-AC1D-B6C2BCCA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808" y="4053840"/>
            <a:ext cx="41910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17%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785522-7F1B-46CE-9A94-326A4319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8670"/>
            <a:ext cx="108585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42526B"/>
                </a:solidFill>
              </a:defRPr>
            </a:pPr>
            <a:r>
              <a:rPr sz="825">
                <a:solidFill>
                  <a:srgbClr val="42526B"/>
                </a:solidFill>
              </a:rPr>
              <a:t>Compromise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8F50E-51E6-476D-B253-90B2052A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08195"/>
            <a:ext cx="1676400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0">
            <a:solidFill>
              <a:srgbClr val="F3EC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76632D-2E9C-4DE9-B465-F8663F7E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08195"/>
            <a:ext cx="289560" cy="41148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EC489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145A52-24AD-4EEA-93F2-680E5A8D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160" y="4617720"/>
            <a:ext cx="41910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1BF97F-1802-4C22-995B-1598D8D5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Q18: Brand moving beyond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90566-9AC8-4BF0-90EF-2495F803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43150"/>
            <a:ext cx="108585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42526B"/>
                </a:solidFill>
              </a:defRPr>
            </a:pPr>
            <a:r>
              <a:rPr sz="825">
                <a:solidFill>
                  <a:srgbClr val="42526B"/>
                </a:solidFill>
              </a:rPr>
              <a:t>No brand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F9D99C-493D-46EE-BE8F-24DFA849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52675"/>
            <a:ext cx="1676400" cy="31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0">
            <a:solidFill>
              <a:srgbClr val="F3EC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D67AB9-7A0C-4115-AEAC-99F5853B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52675"/>
            <a:ext cx="1370923" cy="31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F460A0-F57B-4899-86CF-D8D16EC8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723" y="2362200"/>
            <a:ext cx="4191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37%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19474B-C0EC-4A77-8C7A-9B80D741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13050"/>
            <a:ext cx="108585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42526B"/>
                </a:solidFill>
              </a:defRPr>
            </a:pPr>
            <a:r>
              <a:rPr sz="825">
                <a:solidFill>
                  <a:srgbClr val="42526B"/>
                </a:solidFill>
              </a:rPr>
              <a:t>Spanx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7FBE8A-14EC-43AC-9CCB-B2CFEE32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22575"/>
            <a:ext cx="1676400" cy="31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0">
            <a:solidFill>
              <a:srgbClr val="F3EC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D7772A-F6FE-409F-8FCD-CFF53967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22575"/>
            <a:ext cx="670560" cy="31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4A52F0-9788-4FDA-B846-4BD2FFF8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832100"/>
            <a:ext cx="4191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18%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DE17C-9FBD-44D0-9600-C752506E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82950"/>
            <a:ext cx="108585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42526B"/>
                </a:solidFill>
              </a:defRPr>
            </a:pPr>
            <a:r>
              <a:rPr sz="825">
                <a:solidFill>
                  <a:srgbClr val="42526B"/>
                </a:solidFill>
              </a:rPr>
              <a:t>Skims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123A46-38E0-4606-9B9E-DA06ED02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2475"/>
            <a:ext cx="1676400" cy="31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0">
            <a:solidFill>
              <a:srgbClr val="F3EC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D38C7F-8DBD-4BAC-AA12-981BD802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2475"/>
            <a:ext cx="577427" cy="31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F06058-F19F-4EFC-BFC5-86F17DE9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227" y="3302000"/>
            <a:ext cx="4191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16%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8C663E-2996-43F9-A496-EB861978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52850"/>
            <a:ext cx="108585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42526B"/>
                </a:solidFill>
              </a:defRPr>
            </a:pPr>
            <a:r>
              <a:rPr sz="825">
                <a:solidFill>
                  <a:srgbClr val="42526B"/>
                </a:solidFill>
              </a:rPr>
              <a:t>Maidenform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ED67E9-D55A-4B85-953E-E16A294B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62375"/>
            <a:ext cx="1676400" cy="31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0">
            <a:solidFill>
              <a:srgbClr val="F3EC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E50F1A-7182-48F2-B5EB-1E34BDD2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62375"/>
            <a:ext cx="454491" cy="31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356744-B35E-4E55-B705-A692039D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291" y="3771900"/>
            <a:ext cx="4191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12%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27F0D8-BA41-4147-9947-C80CDF62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22750"/>
            <a:ext cx="108585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42526B"/>
                </a:solidFill>
              </a:defRPr>
            </a:pPr>
            <a:r>
              <a:rPr sz="825">
                <a:solidFill>
                  <a:srgbClr val="42526B"/>
                </a:solidFill>
              </a:rPr>
              <a:t>Honeylove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C500A7-17DB-4183-B5D0-CAF76BCA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32275"/>
            <a:ext cx="1676400" cy="31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0">
            <a:solidFill>
              <a:srgbClr val="F3ECE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7EDB1F-45FB-44BC-8586-5FBDD659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32275"/>
            <a:ext cx="331555" cy="31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5E6186-1C67-4E85-A5CC-31F13995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355" y="4241800"/>
            <a:ext cx="4191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9%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2635F6-126C-4C04-BBC9-293CF20A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92650"/>
            <a:ext cx="108585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42526B"/>
                </a:solidFill>
              </a:defRPr>
            </a:pPr>
            <a:r>
              <a:rPr sz="825">
                <a:solidFill>
                  <a:srgbClr val="42526B"/>
                </a:solidFill>
              </a:rPr>
              <a:t>Shapermint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EF794D-756C-47E8-BA1E-FF07ECE2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02175"/>
            <a:ext cx="1676400" cy="31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0">
            <a:solidFill>
              <a:srgbClr val="F3ECE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2FCD06-D26B-488A-9600-858B72C2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02175"/>
            <a:ext cx="257048" cy="317500"/>
          </a:xfrm>
          <a:prstGeom xmlns:a="http://schemas.openxmlformats.org/drawingml/2006/main" prst="roundRect">
            <a:avLst>
              <a:gd name="adj" fmla="val 741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1BB095-FEB7-4696-A26F-46885270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848" y="4711700"/>
            <a:ext cx="4191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7%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F0FF48-1FFF-416D-8650-DE5E96CF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Q19: Campaign hooks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BA8905-E379-4DBE-BC73-1A40EC31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108585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42526B"/>
                </a:solidFill>
              </a:defRPr>
            </a:pPr>
            <a:r>
              <a:rPr sz="825">
                <a:solidFill>
                  <a:srgbClr val="42526B"/>
                </a:solidFill>
              </a:rPr>
              <a:t>Adapts to body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9D68A4-5154-4723-96A5-E21D4546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52675"/>
            <a:ext cx="1676400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0">
            <a:solidFill>
              <a:srgbClr val="F3ECE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C93284-1BF5-4988-A0D5-488874FA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52675"/>
            <a:ext cx="1433322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5FC0D9-1120-4D01-A30F-EFC67AA5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8322" y="2362200"/>
            <a:ext cx="41910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51%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792CAD-FCE6-4DA7-885C-4AA20AFE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7030"/>
            <a:ext cx="108585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42526B"/>
                </a:solidFill>
              </a:defRPr>
            </a:pPr>
            <a:r>
              <a:rPr sz="825">
                <a:solidFill>
                  <a:srgbClr val="42526B"/>
                </a:solidFill>
              </a:rPr>
              <a:t>Understands stage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686092-F6CE-4F39-AF12-6109D179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16555"/>
            <a:ext cx="1676400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0">
            <a:solidFill>
              <a:srgbClr val="F3ECE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256AD4-A90E-4053-9CFD-6EBA104B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16555"/>
            <a:ext cx="1419352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FCECEE-CAC6-4672-99B2-C294661C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352" y="2926080"/>
            <a:ext cx="41910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51%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BE6FFC-2B8D-4F2F-926D-1FD10A52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0910"/>
            <a:ext cx="108585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42526B"/>
                </a:solidFill>
              </a:defRPr>
            </a:pPr>
            <a:r>
              <a:rPr sz="825">
                <a:solidFill>
                  <a:srgbClr val="42526B"/>
                </a:solidFill>
              </a:rPr>
              <a:t>Comfort powerful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8AF5BE3-C9FA-45D9-A329-2644A3F9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80435"/>
            <a:ext cx="1676400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0">
            <a:solidFill>
              <a:srgbClr val="F3ECE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75B672-0C5A-48DF-B397-B24AEFDB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80435"/>
            <a:ext cx="1179068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B5E832-436B-466C-A3FB-1678AB3C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4068" y="3489960"/>
            <a:ext cx="41910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42%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192116F-08FF-461E-A2D2-04598581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4790"/>
            <a:ext cx="108585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42526B"/>
                </a:solidFill>
              </a:defRPr>
            </a:pPr>
            <a:r>
              <a:rPr sz="825">
                <a:solidFill>
                  <a:srgbClr val="42526B"/>
                </a:solidFill>
              </a:rPr>
              <a:t>Stop thinking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9E9D22B-DD50-4DF1-862F-8F97744B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44315"/>
            <a:ext cx="1676400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0">
            <a:solidFill>
              <a:srgbClr val="F3ECE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AD8FA1-559A-41CF-9202-65D84439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44315"/>
            <a:ext cx="732028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BE7D098-36DB-4B2A-B721-60808A54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028" y="4053840"/>
            <a:ext cx="41910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26%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96565C-A6D9-4917-AF54-11C252FB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98670"/>
            <a:ext cx="108585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42526B"/>
                </a:solidFill>
              </a:defRPr>
            </a:pPr>
            <a:r>
              <a:rPr sz="825">
                <a:solidFill>
                  <a:srgbClr val="42526B"/>
                </a:solidFill>
              </a:rPr>
              <a:t>Own terms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BC56F77-7186-459B-89E7-68FD2D5E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08195"/>
            <a:ext cx="1676400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0">
            <a:solidFill>
              <a:srgbClr val="F3ECE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9CB0402-A009-4CA6-8CE8-EEF18935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08195"/>
            <a:ext cx="572770" cy="41148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57C6420-726D-4720-8292-850A4DC5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7770" y="4617720"/>
            <a:ext cx="41910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21%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EC49B6C-975B-4AE3-9C0A-698710B1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The brief practically writes itself: lead with adaptation, life stage, and powerful comfort. Do not lead with slimming.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2CD50F4-1C7E-4469-AFA5-F3A96937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B7280"/>
                </a:solidFill>
              </a:defRPr>
            </a:pPr>
            <a:r>
              <a:rPr sz="825">
                <a:solidFill>
                  <a:srgbClr val="6B7280"/>
                </a:solidFill>
              </a:rPr>
              <a:t>Source: Q2 2026 Brand Tracker export-10197.xls, Q17-Q19 aggregate tables.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E3DC42B-9790-4BFB-AEFE-4F090ADB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51510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42526B"/>
                </a:solidFill>
              </a:defRPr>
            </a:pPr>
            <a:r>
              <a:rPr sz="825" b="1">
                <a:solidFill>
                  <a:srgbClr val="42526B"/>
                </a:solidFill>
              </a:rPr>
              <a:t>US Brand Tracker | Shapermint</a:t>
            </a:r>
          </a:p>
        </p:txBody>
      </p:sp>
    </p:spTree>
    <p:extLst>
      <p:ext uri="{BB962C8B-B14F-4D97-AF65-F5344CB8AC3E}">
        <p14:creationId xmlns:p14="http://schemas.microsoft.com/office/powerpoint/2010/main" val="5574280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EB4067-55CF-4BFF-AFED-CBDA99AF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AGE MIX IS A REAL HYPOTHESIS, BUT NOT YET THE AGE SPLIT WE NEED.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6E42B-D03B-4F57-891B-BB029521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7111F"/>
                </a:solidFill>
              </a:defRPr>
            </a:pPr>
            <a:r>
              <a:rPr sz="3000" b="1">
                <a:solidFill>
                  <a:srgbClr val="07111F"/>
                </a:solidFill>
              </a:rPr>
              <a:t>Q34 points to a sample-mix effect; Q17-Q19 age splits need raw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6D053-FDD9-4988-AD05-DB9A155D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42526B"/>
                </a:solidFill>
              </a:defRPr>
            </a:pPr>
            <a:r>
              <a:rPr sz="1350">
                <a:solidFill>
                  <a:srgbClr val="42526B"/>
                </a:solidFill>
              </a:rPr>
              <a:t>The Q2 sample is 80% 40+, up from 62% in Q4. That can contribute to broad aided-awareness softness, but it is not a substitute for a Q17-Q19 x age crosstab.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CA5E2-70B8-413E-B447-3ED9AC83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876300" cy="13634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4"/>
          </a:solidFill>
          <a:ln xmlns:a="http://schemas.openxmlformats.org/drawingml/2006/main" w="0">
            <a:solidFill>
              <a:srgbClr val="D8CF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468F1-B1FE-42E4-BDFE-4C289BD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44697"/>
            <a:ext cx="876300" cy="8463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EC0BE-CAAA-4019-B2E4-6498CE33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11F"/>
                </a:solidFill>
              </a:defRPr>
            </a:pPr>
            <a:r>
              <a:rPr sz="1050" b="1">
                <a:solidFill>
                  <a:srgbClr val="07111F"/>
                </a:solidFill>
              </a:rPr>
              <a:t>62%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39908-19E3-405B-9B50-7F7EF32B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2623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C22F4-DCA0-48A8-AB68-FDB62A4F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2526B"/>
                </a:solidFill>
              </a:defRPr>
            </a:pPr>
            <a:r>
              <a:rPr sz="1050">
                <a:solidFill>
                  <a:srgbClr val="42526B"/>
                </a:solidFill>
              </a:rPr>
              <a:t>Q4 '25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C33F0-7116-4323-B00D-DAA38B3A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381250"/>
            <a:ext cx="876300" cy="15755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4"/>
          </a:solidFill>
          <a:ln xmlns:a="http://schemas.openxmlformats.org/drawingml/2006/main" w="0">
            <a:solidFill>
              <a:srgbClr val="D8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2AB83-AE98-438D-AA30-78D3BFF4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956837"/>
            <a:ext cx="876300" cy="634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622CD-E1DC-4AEF-80E4-7CB659EF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289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11F"/>
                </a:solidFill>
              </a:defRPr>
            </a:pPr>
            <a:r>
              <a:rPr sz="1050" b="1">
                <a:solidFill>
                  <a:srgbClr val="07111F"/>
                </a:solidFill>
              </a:rPr>
              <a:t>71%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3CF59-F936-478D-BCC0-D5D055D4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178694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30004-032E-44B6-A4E2-4B69EC5A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625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2526B"/>
                </a:solidFill>
              </a:defRPr>
            </a:pPr>
            <a:r>
              <a:rPr sz="1050">
                <a:solidFill>
                  <a:srgbClr val="42526B"/>
                </a:solidFill>
              </a:rPr>
              <a:t>Q1 '26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287D7-25CC-4EDD-A9CC-DCB3DEAC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1250"/>
            <a:ext cx="876300" cy="176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4"/>
          </a:solidFill>
          <a:ln xmlns:a="http://schemas.openxmlformats.org/drawingml/2006/main" w="0">
            <a:solidFill>
              <a:srgbClr val="D8CF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1A2C5-4828-418A-BC98-47021B17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44670"/>
            <a:ext cx="876300" cy="446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0F8FE-C966-4691-906C-A6BB10DB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289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11F"/>
                </a:solidFill>
              </a:defRPr>
            </a:pPr>
            <a:r>
              <a:rPr sz="1050" b="1">
                <a:solidFill>
                  <a:srgbClr val="07111F"/>
                </a:solidFill>
              </a:rPr>
              <a:t>80%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686E3-5A00-4FFF-9B1F-53975FEC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7261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69CE3-2DE3-43CD-960D-091471B0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7625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2526B"/>
                </a:solidFill>
              </a:defRPr>
            </a:pPr>
            <a:r>
              <a:rPr sz="1050">
                <a:solidFill>
                  <a:srgbClr val="42526B"/>
                </a:solidFill>
              </a:rPr>
              <a:t>Q2 '26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D354F-3C5F-4A95-BBDA-7666E84E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2526B"/>
                </a:solidFill>
              </a:defRPr>
            </a:pPr>
            <a:r>
              <a:rPr sz="1050" b="1">
                <a:solidFill>
                  <a:srgbClr val="42526B"/>
                </a:solidFill>
              </a:rPr>
              <a:t>40+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53E7A-5500-4018-B28D-5CE93E94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862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Under 40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82BE0D-AB30-4BBC-9069-83B87DAD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4667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C87B20-C433-4E85-8EB3-834F63BD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7111F"/>
                </a:solidFill>
              </a:defRPr>
            </a:pPr>
            <a:r>
              <a:rPr sz="1275" b="1">
                <a:solidFill>
                  <a:srgbClr val="07111F"/>
                </a:solidFill>
              </a:rPr>
              <a:t>Sample mix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F1F94-010B-4718-B290-8CBCD606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42526B"/>
                </a:solidFill>
              </a:defRPr>
            </a:pPr>
            <a:r>
              <a:rPr sz="1050">
                <a:solidFill>
                  <a:srgbClr val="42526B"/>
                </a:solidFill>
              </a:rPr>
              <a:t>Under-40 share fell to 20.2% in Q2. That can depress recall for brands with younger/social-led memory.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36BE64-7924-44CC-86EA-E7F3537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33700"/>
            <a:ext cx="4667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3CA9AD-C2B6-46FD-8937-C48C48E7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7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7111F"/>
                </a:solidFill>
              </a:defRPr>
            </a:pPr>
            <a:r>
              <a:rPr sz="1275" b="1">
                <a:solidFill>
                  <a:srgbClr val="07111F"/>
                </a:solidFill>
              </a:rPr>
              <a:t>Broad aided reset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A1796-B2D4-4B4C-954E-D7209084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42526B"/>
                </a:solidFill>
              </a:defRPr>
            </a:pPr>
            <a:r>
              <a:rPr sz="1050">
                <a:solidFill>
                  <a:srgbClr val="42526B"/>
                </a:solidFill>
              </a:rPr>
              <a:t>Shapermint, Spanx, Skims, Maidenform, and Honeylove all fell on aided awareness, pointing to tracker/sample/context too.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40402B-3880-4D14-A7A9-A2771947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52850"/>
            <a:ext cx="4667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08A22C-BD10-4EA1-85E3-393C7B07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7111F"/>
                </a:solidFill>
              </a:defRPr>
            </a:pPr>
            <a:r>
              <a:rPr sz="1275" b="1">
                <a:solidFill>
                  <a:srgbClr val="07111F"/>
                </a:solidFill>
              </a:rPr>
              <a:t>Timing &amp; attention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17A67B-4381-4639-9444-841538BB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671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42526B"/>
                </a:solidFill>
              </a:defRPr>
            </a:pPr>
            <a:r>
              <a:rPr sz="1050">
                <a:solidFill>
                  <a:srgbClr val="42526B"/>
                </a:solidFill>
              </a:rPr>
              <a:t>Later fielding, summer travel, Prime Day/deal mode, and media distraction could soften recognition across brands.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3EC5CB-FFB1-4A7F-B7DA-A763B863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72000"/>
            <a:ext cx="4667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0CC5C2-DDD1-4BE4-945B-4C3AB0F2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053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7111F"/>
                </a:solidFill>
              </a:defRPr>
            </a:pPr>
            <a:r>
              <a:rPr sz="1275" b="1">
                <a:solidFill>
                  <a:srgbClr val="07111F"/>
                </a:solidFill>
              </a:rPr>
              <a:t>Question framing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157451-6ABF-4AD9-83FB-AECA6E62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863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42526B"/>
                </a:solidFill>
              </a:defRPr>
            </a:pPr>
            <a:r>
              <a:rPr sz="1050">
                <a:solidFill>
                  <a:srgbClr val="42526B"/>
                </a:solidFill>
              </a:rPr>
              <a:t>The Q17-Q19 category critique may prime respondents to be less generous about brand familiarity and differentiation.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00366E-E8CA-492D-AB65-40E78703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62600"/>
            <a:ext cx="3238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CC5EAE-6469-4EF2-B53D-490A441A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629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Need: Q17-Q19 x Q34 raw/crosstab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DF51D6-FFE7-4D2E-964A-6163C9DE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B7280"/>
                </a:solidFill>
              </a:defRPr>
            </a:pPr>
            <a:r>
              <a:rPr sz="825">
                <a:solidFill>
                  <a:srgbClr val="6B7280"/>
                </a:solidFill>
              </a:rPr>
              <a:t>Source: Q34 age tables from Q4 2025, Q1 2026, and Q2 2026 tracker exports. Q17-Q19 age crosstab not present in supplied XLS.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C6CE09-E16B-46AD-87AE-06A6FCF2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51510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42526B"/>
                </a:solidFill>
              </a:defRPr>
            </a:pPr>
            <a:r>
              <a:rPr sz="825" b="1">
                <a:solidFill>
                  <a:srgbClr val="42526B"/>
                </a:solidFill>
              </a:rPr>
              <a:t>US Brand Tracker | Shapermint</a:t>
            </a:r>
          </a:p>
        </p:txBody>
      </p:sp>
      <p:sp>
        <p:nvSpPr>
          <p:cNvPr id="38" name="revision-background">
            <a:extLst xmlns:a="http://schemas.openxmlformats.org/drawingml/2006/main">
              <a:ext uri="{FF2B5EF4-FFF2-40B4-BE49-F238E27FC236}">
                <a16:creationId xmlns:a16="http://schemas.microsoft.com/office/drawing/2014/main" id="{DB3F9FE8-0A44-4D73-9ECA-A2528516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D91A13-34B6-4145-89DA-6C8FAE94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Q17-Q19 AGE SPLIT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3F0FA1-A3AB-4420-89A5-F0349CE7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071425"/>
                </a:solidFill>
              </a:defRPr>
            </a:pPr>
            <a:r>
              <a:rPr sz="2925" b="1">
                <a:solidFill>
                  <a:srgbClr val="071425"/>
                </a:solidFill>
              </a:rPr>
              <a:t>Age changes the doorway, not the core idea.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A5A632-6CAA-4675-9C2F-88BFDDE6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41516B"/>
                </a:solidFill>
              </a:defRPr>
            </a:pPr>
            <a:r>
              <a:rPr sz="1313" b="0">
                <a:solidFill>
                  <a:srgbClr val="41516B"/>
                </a:solidFill>
              </a:rPr>
              <a:t>Under 40 wants comfort to feel powerful; 40+ wants proof the brand understands her stage of life. Both still leave room for Shapermint to own body adaptation.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D3E4B9-41EC-45E3-B3DD-D1DC26E8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60960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FDB9C1-FB5D-452A-8D19-0411F8AC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6667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Under 40 n=333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077CE8-73F6-4BB3-90CC-E7E08C6C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96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8CE8BE-A29A-4814-B014-EA477050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6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40+ n=1,314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863CA1-06E6-4570-8115-8E51E336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238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E5DC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D0B788-A556-4405-9F89-B0B488FA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003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71425"/>
                </a:solidFill>
              </a:defRPr>
            </a:pPr>
            <a:r>
              <a:rPr sz="1500" b="1">
                <a:solidFill>
                  <a:srgbClr val="071425"/>
                </a:solidFill>
              </a:rPr>
              <a:t>Q19: campaign hooks by age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4C89B5-6F6C-48AE-BEE6-7A320728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8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>
                <a:solidFill>
                  <a:srgbClr val="667085"/>
                </a:solidFill>
              </a:defRPr>
            </a:pPr>
            <a:r>
              <a:rPr sz="938" b="1">
                <a:solidFill>
                  <a:srgbClr val="667085"/>
                </a:solidFill>
              </a:rPr>
              <a:t>Purple = under 40; navy = 40+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C48ADBC-AC3C-468A-9B4C-BBB2A33D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5752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1516B"/>
                </a:solidFill>
              </a:defRPr>
            </a:pPr>
            <a:r>
              <a:rPr sz="1050" b="1">
                <a:solidFill>
                  <a:srgbClr val="41516B"/>
                </a:solidFill>
              </a:rPr>
              <a:t>Comfort feels powerful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080056-AE21-4BB2-9414-2DD5876F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114675"/>
            <a:ext cx="176212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3B77C1-99FB-4078-B4C5-9EA12537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114675"/>
            <a:ext cx="1571228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A5FD9B-0EED-4DDD-91C2-72AF5ACB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1">
                <a:solidFill>
                  <a:srgbClr val="7C3AED"/>
                </a:solidFill>
              </a:defRPr>
            </a:pPr>
            <a:r>
              <a:rPr sz="1013" b="1">
                <a:solidFill>
                  <a:srgbClr val="7C3AED"/>
                </a:solidFill>
              </a:rPr>
              <a:t>53.5%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ED456A-7FA0-42B7-935D-4A16664D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352800"/>
            <a:ext cx="176212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9646FB-A066-41CE-80CA-3AF12EF6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352800"/>
            <a:ext cx="1154192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349E96-8871-4467-8AF2-4D07CC27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432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1">
                <a:solidFill>
                  <a:srgbClr val="071425"/>
                </a:solidFill>
              </a:defRPr>
            </a:pPr>
            <a:r>
              <a:rPr sz="1013" b="1">
                <a:solidFill>
                  <a:srgbClr val="071425"/>
                </a:solidFill>
              </a:rPr>
              <a:t>39.3%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87FD9E-DF81-45B8-BE45-F078C777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862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1516B"/>
                </a:solidFill>
              </a:defRPr>
            </a:pPr>
            <a:r>
              <a:rPr sz="1050" b="1">
                <a:solidFill>
                  <a:srgbClr val="41516B"/>
                </a:solidFill>
              </a:rPr>
              <a:t>Adapts to my body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7E2AB56-0958-4A0C-8548-679BF362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943350"/>
            <a:ext cx="176212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689CD13-ACB7-46FD-A493-A92E88AD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943350"/>
            <a:ext cx="1286351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F4A3441-9EB4-44BC-A48C-9EB1D630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338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1">
                <a:solidFill>
                  <a:srgbClr val="7C3AED"/>
                </a:solidFill>
              </a:defRPr>
            </a:pPr>
            <a:r>
              <a:rPr sz="1013" b="1">
                <a:solidFill>
                  <a:srgbClr val="7C3AED"/>
                </a:solidFill>
              </a:rPr>
              <a:t>43.8%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C466AE-226D-44D8-BA15-CF354130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81475"/>
            <a:ext cx="176212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B48A5B-5054-4D78-90A3-8F37418A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81475"/>
            <a:ext cx="1559481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040F41-F4C6-4CC5-84A0-CA61D294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71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1">
                <a:solidFill>
                  <a:srgbClr val="071425"/>
                </a:solidFill>
              </a:defRPr>
            </a:pPr>
            <a:r>
              <a:rPr sz="1013" b="1">
                <a:solidFill>
                  <a:srgbClr val="071425"/>
                </a:solidFill>
              </a:rPr>
              <a:t>53.1%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5B4EDD8-6C04-4400-B06B-A2677292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148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1516B"/>
                </a:solidFill>
              </a:defRPr>
            </a:pPr>
            <a:r>
              <a:rPr sz="1050" b="1">
                <a:solidFill>
                  <a:srgbClr val="41516B"/>
                </a:solidFill>
              </a:rPr>
              <a:t>Understands my stage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5E31964-6BC9-44BB-AA45-DBB3508F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772025"/>
            <a:ext cx="176212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9664DD3-2A92-4931-8FE5-A3DE9D8E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772025"/>
            <a:ext cx="10572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F15904A-1A83-4404-B25A-3D81A19C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625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1">
                <a:solidFill>
                  <a:srgbClr val="7C3AED"/>
                </a:solidFill>
              </a:defRPr>
            </a:pPr>
            <a:r>
              <a:rPr sz="1013" b="1">
                <a:solidFill>
                  <a:srgbClr val="7C3AED"/>
                </a:solidFill>
              </a:rPr>
              <a:t>36.0%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139A85-95C7-42A0-A3B4-7209DA15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010150"/>
            <a:ext cx="176212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D338A54-B72D-4D3F-A369-E902D0B9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010150"/>
            <a:ext cx="1603534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B3A568-2493-44CA-9091-07834D8D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006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1">
                <a:solidFill>
                  <a:srgbClr val="071425"/>
                </a:solidFill>
              </a:defRPr>
            </a:pPr>
            <a:r>
              <a:rPr sz="1013" b="1">
                <a:solidFill>
                  <a:srgbClr val="071425"/>
                </a:solidFill>
              </a:rPr>
              <a:t>54.6%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F57EEDD-978C-40F7-BD3D-1F15E3AA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4953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5DCD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E49FB49-D70D-44CA-8A1E-816C9C85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71425"/>
                </a:solidFill>
              </a:defRPr>
            </a:pPr>
            <a:r>
              <a:rPr sz="1425" b="1">
                <a:solidFill>
                  <a:srgbClr val="071425"/>
                </a:solidFill>
              </a:rPr>
              <a:t>Same category tension, different emphasis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F4E1E4B-24EF-461F-A32A-0AB86ED9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65" b="0">
                <a:solidFill>
                  <a:srgbClr val="41516B"/>
                </a:solidFill>
              </a:defRPr>
            </a:pPr>
            <a:r>
              <a:rPr sz="1065" b="0">
                <a:solidFill>
                  <a:srgbClr val="41516B"/>
                </a:solidFill>
              </a:rPr>
              <a:t>“Looking slimmer” is the top category critique for both groups: 34.5% under 40 and 33.3% 40+. Under 40 over-indexes on brands changing bodies (25.2%, +10pp), while 40+ over-indexes on younger/life-stage pain (21.5% / 21.1%).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5A4B350-377B-439F-9880-455A80C8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4953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5DCD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E39CB78-984A-4F0C-9E5B-241101B0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71425"/>
                </a:solidFill>
              </a:defRPr>
            </a:pPr>
            <a:r>
              <a:rPr sz="1425" b="1">
                <a:solidFill>
                  <a:srgbClr val="071425"/>
                </a:solidFill>
              </a:rPr>
              <a:t>The white space is bigger with 40+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314B07-A4C4-4A58-B89D-E6E72BF7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65" b="0">
                <a:solidFill>
                  <a:srgbClr val="41516B"/>
                </a:solidFill>
              </a:defRPr>
            </a:pPr>
            <a:r>
              <a:rPr sz="1065" b="0">
                <a:solidFill>
                  <a:srgbClr val="41516B"/>
                </a:solidFill>
              </a:rPr>
              <a:t>Under 40 gives Skims the most credit for moving beyond old rules (29.1%). Among 40+, “no brand” leads at 39.4%. Shapermint is low in both groups: 7.5% under 40 and 6.8% 40+.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EA5AC2C-9E8A-4561-97FD-C19FE8DF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48225"/>
            <a:ext cx="49530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0714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56523F3-0BE0-4542-946A-BF602616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768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Campaign read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5A8A12F-57E7-4B2B-B362-04903CEC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38725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73" b="0">
                <a:solidFill>
                  <a:srgbClr val="E8EDF5"/>
                </a:solidFill>
              </a:defRPr>
            </a:pPr>
            <a:r>
              <a:rPr sz="1073" b="0">
                <a:solidFill>
                  <a:srgbClr val="E8EDF5"/>
                </a:solidFill>
              </a:rPr>
              <a:t>Make “adapts to my body” the shared memory cue, then flex the proof: comfort-as-power for under 40; life-stage fit and no-compromise reassurance for 40+.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7A7BD17-FD43-4B92-BB83-B3C75B5B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667085"/>
                </a:solidFill>
              </a:defRPr>
            </a:pPr>
            <a:r>
              <a:rPr sz="788" b="0">
                <a:solidFill>
                  <a:srgbClr val="667085"/>
                </a:solidFill>
              </a:rPr>
              <a:t>Source: Q2 2026 Brand Tracker corrected age split exports; under 40 n=333, 40+ n=1,314. Q17-Q19 tables.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7654144-2E0D-4435-A3AE-010A569A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960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1">
                <a:solidFill>
                  <a:srgbClr val="41516B"/>
                </a:solidFill>
              </a:defRPr>
            </a:pPr>
            <a:r>
              <a:rPr sz="788" b="1">
                <a:solidFill>
                  <a:srgbClr val="41516B"/>
                </a:solidFill>
              </a:rPr>
              <a:t>US Brand Tracker | Shapermint</a:t>
            </a:r>
          </a:p>
        </p:txBody>
      </p:sp>
    </p:spTree>
    <p:extLst>
      <p:ext uri="{BB962C8B-B14F-4D97-AF65-F5344CB8AC3E}">
        <p14:creationId xmlns:p14="http://schemas.microsoft.com/office/powerpoint/2010/main" val="497381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60F184-98C2-4BDD-A93D-995366C3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MAKE SHAPERMINT THE BRAND THAT STOPS ASKING WOMEN TO ADAPT.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C6966-07F2-4A96-8202-41FD2ED6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7111F"/>
                </a:solidFill>
              </a:defRPr>
            </a:pPr>
            <a:r>
              <a:rPr sz="3000" b="1">
                <a:solidFill>
                  <a:srgbClr val="07111F"/>
                </a:solidFill>
              </a:rPr>
              <a:t>Reshaping the Rules should be built as a memory system, not a one-off message.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E92E5-5060-4A7B-B57D-337E1E99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800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CA61C-F1E4-4729-BCEE-AAAC9191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438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6009F-0D81-4BC9-8A51-E17EFE31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2F0FF-B304-40DC-9ECA-55BB281C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Single promise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79E4E-AAAC-422B-8926-EC582A1A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2526B"/>
                </a:solidFill>
              </a:defRPr>
            </a:pPr>
            <a:r>
              <a:rPr sz="1200">
                <a:solidFill>
                  <a:srgbClr val="42526B"/>
                </a:solidFill>
              </a:rPr>
              <a:t>Shapermint adapts to my body and life stage.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12E86-8707-41CF-B35E-2A914F9F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38350"/>
            <a:ext cx="4800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5A173-8B90-4E98-A56A-14F25A27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438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1726"/>
          </a:solidFill>
          <a:ln xmlns:a="http://schemas.openxmlformats.org/drawingml/2006/main" w="0">
            <a:solidFill>
              <a:srgbClr val="0C17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EBEA8-9139-4913-888A-D8077DEE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764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67663-D2B6-47BB-85A7-F087F2CF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Proof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01EE0-D432-4D6A-96C4-0D017AE2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527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2526B"/>
                </a:solidFill>
              </a:defRPr>
            </a:pPr>
            <a:r>
              <a:rPr sz="1200">
                <a:solidFill>
                  <a:srgbClr val="42526B"/>
                </a:solidFill>
              </a:rPr>
              <a:t>Medium compression, everyday comfort, fit flexibility, and real-life movement.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F4BF7-E82C-4B00-A674-23791B83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4800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25AF9-69D7-4BF3-8AD2-ED869AFE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438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1726"/>
          </a:solidFill>
          <a:ln xmlns:a="http://schemas.openxmlformats.org/drawingml/2006/main" w="0">
            <a:solidFill>
              <a:srgbClr val="0C17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E06A8-E090-4AB1-8238-58C3BE39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290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83D19-0D8D-452A-89F9-B645FDFD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Brand cues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04F05-982A-497F-AC3D-11D25681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2526B"/>
                </a:solidFill>
              </a:defRPr>
            </a:pPr>
            <a:r>
              <a:rPr sz="1200">
                <a:solidFill>
                  <a:srgbClr val="42526B"/>
                </a:solidFill>
              </a:rPr>
              <a:t>Repeat one phrase, one visual grammar, and one product proof everywhere.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89CB1-FF4D-4186-9AEF-859A4A1C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90900"/>
            <a:ext cx="4800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EEBD66-88BD-460E-AAB9-AAE2A8D8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62350"/>
            <a:ext cx="438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1726"/>
          </a:solidFill>
          <a:ln xmlns:a="http://schemas.openxmlformats.org/drawingml/2006/main" w="0">
            <a:solidFill>
              <a:srgbClr val="0C17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066E74-73EA-42F5-AED6-A19DA8F7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290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1D4A5-9C0D-4E1B-BA37-D1A749A8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62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Media reinforcement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E4B298-030F-4D4B-984B-EF2499F0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052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2526B"/>
                </a:solidFill>
              </a:defRPr>
            </a:pPr>
            <a:r>
              <a:rPr sz="1200">
                <a:solidFill>
                  <a:srgbClr val="42526B"/>
                </a:solidFill>
              </a:rPr>
              <a:t>Use Facebook + search for reach, Amazon/retail for proof, TikTok for selective top-funnel testing.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F81CD4-C32E-4943-9E0F-765025CD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86350"/>
            <a:ext cx="9620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C1726"/>
          </a:solidFill>
          <a:ln xmlns:a="http://schemas.openxmlformats.org/drawingml/2006/main" w="0">
            <a:solidFill>
              <a:srgbClr val="0C17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7C4B00-3A74-4895-8737-485249F9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95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Measurement plan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2B1FBC-EF1C-4A06-8CD8-45DD39E7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5780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Track aided + unaided lift, Q18 'Shapermint is moving beyond' share, Q19 hook recall, purchase intent, and Q17-Q19 by age once raw data is available.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BBD624-CAA9-4521-9468-C7CB8A37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B7280"/>
                </a:solidFill>
              </a:defRPr>
            </a:pPr>
            <a:r>
              <a:rPr sz="825">
                <a:solidFill>
                  <a:srgbClr val="6B7280"/>
                </a:solidFill>
              </a:rPr>
              <a:t>Source: Q2 2026 Brand Tracker Q17-Q19, Q13-Q14, Q22-Q23; campaign recommendation synthesized from tracker evidence.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D863D0-3A55-4283-8761-DC844BD9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51510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42526B"/>
                </a:solidFill>
              </a:defRPr>
            </a:pPr>
            <a:r>
              <a:rPr sz="825" b="1">
                <a:solidFill>
                  <a:srgbClr val="42526B"/>
                </a:solidFill>
              </a:rPr>
              <a:t>US Brand Tracker | Shapermint</a:t>
            </a:r>
          </a:p>
        </p:txBody>
      </p:sp>
      <p:sp>
        <p:nvSpPr>
          <p:cNvPr id="29" name="revision-background">
            <a:extLst xmlns:a="http://schemas.openxmlformats.org/drawingml/2006/main">
              <a:ext uri="{FF2B5EF4-FFF2-40B4-BE49-F238E27FC236}">
                <a16:creationId xmlns:a16="http://schemas.microsoft.com/office/drawing/2014/main" id="{9448BD96-1579-4B7A-B134-20A37D01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D588EB-58AF-4789-A3CA-534B07DE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CAMPAIGN SCALE TACTICS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63B699-BB85-4B3C-BF21-499E288E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13" b="1">
                <a:solidFill>
                  <a:srgbClr val="071425"/>
                </a:solidFill>
              </a:defRPr>
            </a:pPr>
            <a:r>
              <a:rPr sz="2813" b="1">
                <a:solidFill>
                  <a:srgbClr val="071425"/>
                </a:solidFill>
              </a:rPr>
              <a:t>Make Reshaping the Rules impossible to miss across retail, Amazon, and paid.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B18FC9-BC7D-414D-9488-8E18200F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1516B"/>
                </a:solidFill>
              </a:defRPr>
            </a:pPr>
            <a:r>
              <a:rPr sz="1275" b="0">
                <a:solidFill>
                  <a:srgbClr val="41516B"/>
                </a:solidFill>
              </a:rPr>
              <a:t>Spanx and Skims win by memory. Shapermint needs a repeatable asset system: same promise, same proof, same visual cue, adapted by age and channel.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DF0B82-9DC5-4324-8A11-0F071942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33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5DCD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58A86E-393A-4E9E-BEC8-66717FA1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EC4899"/>
                </a:solidFill>
              </a:defRPr>
            </a:pPr>
            <a:r>
              <a:rPr sz="2100" b="1">
                <a:solidFill>
                  <a:srgbClr val="EC4899"/>
                </a:solidFill>
              </a:rPr>
              <a:t>33.9%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8A70E6-399F-4073-9C65-D86D62D6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66975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65" b="1">
                <a:solidFill>
                  <a:srgbClr val="41516B"/>
                </a:solidFill>
              </a:defRPr>
            </a:pPr>
            <a:r>
              <a:rPr sz="1065" b="1">
                <a:solidFill>
                  <a:srgbClr val="41516B"/>
                </a:solidFill>
              </a:rPr>
              <a:t>say brands focus on looking slimmer; 20.2% say younger women, 19.2% miss life stage.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CA3053-5738-4A8A-860E-96A7D21A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86000"/>
            <a:ext cx="3333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5DC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A4D2E5-BF18-4617-9477-6F555C23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7C3AED"/>
                </a:solidFill>
              </a:defRPr>
            </a:pPr>
            <a:r>
              <a:rPr sz="2100" b="1">
                <a:solidFill>
                  <a:srgbClr val="7C3AED"/>
                </a:solidFill>
              </a:rPr>
              <a:t>55.6%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81931E-B014-4F2F-BCEF-61982C6A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66975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65" b="1">
                <a:solidFill>
                  <a:srgbClr val="41516B"/>
                </a:solidFill>
              </a:defRPr>
            </a:pPr>
            <a:r>
              <a:rPr sz="1065" b="1">
                <a:solidFill>
                  <a:srgbClr val="41516B"/>
                </a:solidFill>
              </a:rPr>
              <a:t>respond to “adapts to my body”; 53.6% to life stage; 47.5% to comfort as power.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462FE2-DA9B-4D5B-AF72-74DE2371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3333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5DCD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52258D-9983-47A2-887D-E38E44E7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26.4%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37717E-0A3B-4E1B-9754-1F244A30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66975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65" b="1">
                <a:solidFill>
                  <a:srgbClr val="41516B"/>
                </a:solidFill>
              </a:defRPr>
            </a:pPr>
            <a:r>
              <a:rPr sz="1065" b="1">
                <a:solidFill>
                  <a:srgbClr val="41516B"/>
                </a:solidFill>
              </a:rPr>
              <a:t>say no brand is moving beyond old rules; Shapermint is only 9.3%.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FA9B4E-F157-4D92-AEAC-19F00102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33718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0714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A8315C-5807-4BC3-9AC2-2E7BAD22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3238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31A71C-4405-4E24-BA21-3E0B46E1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29FECE-D94D-4D3F-AB40-28BD3DF6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4807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88" b="1">
                <a:solidFill>
                  <a:srgbClr val="FFFFFF"/>
                </a:solidFill>
              </a:defRPr>
            </a:pPr>
            <a:r>
              <a:rPr sz="1388" b="1">
                <a:solidFill>
                  <a:srgbClr val="FFFFFF"/>
                </a:solidFill>
              </a:rPr>
              <a:t>Build one memory device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4662FC-5E09-48EE-BC4E-6C6303A6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2552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65" b="0">
                <a:solidFill>
                  <a:srgbClr val="E8EDF5"/>
                </a:solidFill>
              </a:defRPr>
            </a:pPr>
            <a:r>
              <a:rPr sz="1065" b="0">
                <a:solidFill>
                  <a:srgbClr val="E8EDF5"/>
                </a:solidFill>
              </a:rPr>
              <a:t>Create an ownable “Adapt Fit” cue: the garment visibly flexes around different bodies, outfits, and life moments. Repeat the same phrase, motion, and proof shot everywhere.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572ED2-C9C8-4ECB-981B-C451F709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86150"/>
            <a:ext cx="33718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5DCD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EFBD9A-F856-489C-BCC5-CB6EF3E4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57600"/>
            <a:ext cx="3238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B65051-E535-448C-B7DD-40E6810E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46F0E8-AC76-49A3-BBBD-869C85D1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4807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88" b="1">
                <a:solidFill>
                  <a:srgbClr val="071425"/>
                </a:solidFill>
              </a:defRPr>
            </a:pPr>
            <a:r>
              <a:rPr sz="1388" b="1">
                <a:solidFill>
                  <a:srgbClr val="071425"/>
                </a:solidFill>
              </a:rPr>
              <a:t>Turn Amazon into proof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5B3412-E1D9-4E49-AB7F-BE7F6BE8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81450"/>
            <a:ext cx="2552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65" b="0">
                <a:solidFill>
                  <a:srgbClr val="41516B"/>
                </a:solidFill>
              </a:defRPr>
            </a:pPr>
            <a:r>
              <a:rPr sz="1065" b="0">
                <a:solidFill>
                  <a:srgbClr val="41516B"/>
                </a:solidFill>
              </a:rPr>
              <a:t>Above the fold: comfort-first headline, 15-sec fit demo, compression scale, review badge, size/fit reassurance, starter bundle, and cost-per-wear tile.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4FC9BB-B92F-439D-A570-C650C969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86150"/>
            <a:ext cx="33718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5DC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8BBFD5-86BE-4F0B-84D7-80C6BD3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7600"/>
            <a:ext cx="3238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E273A7-DF46-4218-B67D-14853E09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FEED53F-2D44-4616-A578-384DD4DF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4807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88" b="1">
                <a:solidFill>
                  <a:srgbClr val="071425"/>
                </a:solidFill>
              </a:defRPr>
            </a:pPr>
            <a:r>
              <a:rPr sz="1388" b="1">
                <a:solidFill>
                  <a:srgbClr val="071425"/>
                </a:solidFill>
              </a:rPr>
              <a:t>Make retail do brand work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2CC0ABD-03D0-4BAD-956B-E828E3E2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81450"/>
            <a:ext cx="2552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65" b="0">
                <a:solidFill>
                  <a:srgbClr val="41516B"/>
                </a:solidFill>
              </a:defRPr>
            </a:pPr>
            <a:r>
              <a:rPr sz="1065" b="0">
                <a:solidFill>
                  <a:srgbClr val="41516B"/>
                </a:solidFill>
              </a:rPr>
              <a:t>Use the same cue on packaging, hangtags, displays, QR fit quiz, and “old rules vs new rules” shelf copy so retail becomes a credibility bridge.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96F87F-83D4-4CA2-A863-09DA2BA4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52006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5DCD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D3C061-6BA9-4C1A-AD9A-B5AA3DA8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3238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0A5A05-4CF9-498A-B8CB-610DCB0F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1B78A5-748B-4E2C-8FD4-CB19A1C6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530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88" b="1">
                <a:solidFill>
                  <a:srgbClr val="071425"/>
                </a:solidFill>
              </a:defRPr>
            </a:pPr>
            <a:r>
              <a:rPr sz="1388" b="1">
                <a:solidFill>
                  <a:srgbClr val="071425"/>
                </a:solidFill>
              </a:rPr>
              <a:t>Rebuild value without anchoring on price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8A64694-F520-43E5-B3CA-F051BB25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864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65" b="0">
                <a:solidFill>
                  <a:srgbClr val="41516B"/>
                </a:solidFill>
              </a:defRPr>
            </a:pPr>
            <a:r>
              <a:rPr sz="1065" b="0">
                <a:solidFill>
                  <a:srgbClr val="41516B"/>
                </a:solidFill>
              </a:rPr>
              <a:t>Lead with outfit bundles, cost-per-wear, quality proof, durability, easy care, and fit guarantees. Discounts can close, but should not lead the story.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76C254-1D6C-4D12-B07C-B4891E35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91150"/>
            <a:ext cx="52006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5DCD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9E80935-59F4-4C9F-9E0E-1C5267E2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62600"/>
            <a:ext cx="3238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91F9DB-6F2E-4C32-BFD4-AED7B4CE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1975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A5C00B6-4B76-4778-8389-B9394552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5530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88" b="1">
                <a:solidFill>
                  <a:srgbClr val="071425"/>
                </a:solidFill>
              </a:defRPr>
            </a:pPr>
            <a:r>
              <a:rPr sz="1388" b="1">
                <a:solidFill>
                  <a:srgbClr val="071425"/>
                </a:solidFill>
              </a:rPr>
              <a:t>Run one idea with two entry points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4C07693-345A-46AE-9615-6867D21D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8864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65" b="0">
                <a:solidFill>
                  <a:srgbClr val="41516B"/>
                </a:solidFill>
              </a:defRPr>
            </a:pPr>
            <a:r>
              <a:rPr sz="1065" b="0">
                <a:solidFill>
                  <a:srgbClr val="41516B"/>
                </a:solidFill>
              </a:rPr>
              <a:t>Under 40: comfort that feels powerful and lets clothes disappear. 40+: adapts to the body and life stage she is in now. Same cue, different proof.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24ACDBB-87DB-4A75-A75E-8F99DDEB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667085"/>
                </a:solidFill>
              </a:defRPr>
            </a:pPr>
            <a:r>
              <a:rPr sz="788" b="0">
                <a:solidFill>
                  <a:srgbClr val="667085"/>
                </a:solidFill>
              </a:rPr>
              <a:t>Source: Q2 2026 Brand Tracker Q17-Q19; top stat strip matches corrected campaign-stat export n=1,060. Tactics synthesized from tracker evidence and channel recommendations.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5F9905A-24BA-4208-89BC-204D7086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960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1">
                <a:solidFill>
                  <a:srgbClr val="41516B"/>
                </a:solidFill>
              </a:defRPr>
            </a:pPr>
            <a:r>
              <a:rPr sz="788" b="1">
                <a:solidFill>
                  <a:srgbClr val="41516B"/>
                </a:solidFill>
              </a:rPr>
              <a:t>US Brand Tracker | Shapermint</a:t>
            </a:r>
          </a:p>
        </p:txBody>
      </p:sp>
    </p:spTree>
    <p:extLst>
      <p:ext uri="{BB962C8B-B14F-4D97-AF65-F5344CB8AC3E}">
        <p14:creationId xmlns:p14="http://schemas.microsoft.com/office/powerpoint/2010/main" val="1032950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2026-07-20T12:39:12.5790000Z</dcterms:created>
  <dcterms:modified xsi:type="dcterms:W3CDTF">2026-07-20T12:39:12.5790000Z</dcterms:modified>
</coreProperties>
</file>