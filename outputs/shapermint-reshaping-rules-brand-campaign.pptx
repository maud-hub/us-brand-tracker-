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charts/chart1.xml" ContentType="application/vnd.openxmlformats-officedocument.drawingml.chart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789177717f642d8" /><Relationship Type="http://schemas.openxmlformats.org/officeDocument/2006/relationships/extended-properties" Target="/docProps/app.xml" Id="Rd85280de4f4a49eb" /><Relationship Type="http://schemas.openxmlformats.org/officeDocument/2006/relationships/officeDocument" Target="/ppt/presentation.xml" Id="R6c1d13cf6ee0415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b5d1f94713a4cc1"/>
  </p:sldMasterIdLst>
  <p:notesMasterIdLst>
    <p:notesMasterId xmlns:r="http://schemas.openxmlformats.org/officeDocument/2006/relationships" r:id="R3875ac926fd7449a"/>
  </p:notesMasterIdLst>
  <p:sldIdLst>
    <p:sldId xmlns:r="http://schemas.openxmlformats.org/officeDocument/2006/relationships" id="256" r:id="Rfdafedefa1b74c1f"/>
    <p:sldId xmlns:r="http://schemas.openxmlformats.org/officeDocument/2006/relationships" id="257" r:id="R4793aac775294aa7"/>
    <p:sldId xmlns:r="http://schemas.openxmlformats.org/officeDocument/2006/relationships" id="258" r:id="R582a86bd0aba45c2"/>
    <p:sldId xmlns:r="http://schemas.openxmlformats.org/officeDocument/2006/relationships" id="259" r:id="R0408c7d8ec5549b2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fa6ccb2d6c74460" /><Relationship Type="http://schemas.openxmlformats.org/officeDocument/2006/relationships/slideMaster" Target="/ppt/slideMasters/slideMaster1.xml" Id="Rdb5d1f94713a4cc1" /><Relationship Type="http://schemas.openxmlformats.org/officeDocument/2006/relationships/notesMaster" Target="/ppt/notesMasters/notesMaster1.xml" Id="R3875ac926fd7449a" /><Relationship Type="http://schemas.openxmlformats.org/officeDocument/2006/relationships/presProps" Target="/ppt/presProps.xml" Id="Rb31982d795a04e30" /><Relationship Type="http://schemas.openxmlformats.org/officeDocument/2006/relationships/tableStyles" Target="/ppt/tableStyles.xml" Id="R76c529f8a6744d1e" /><Relationship Type="http://schemas.openxmlformats.org/officeDocument/2006/relationships/slide" Target="/ppt/slides/slide1.xml" Id="Rfdafedefa1b74c1f" /><Relationship Type="http://schemas.openxmlformats.org/officeDocument/2006/relationships/slide" Target="/ppt/slides/slide2.xml" Id="R4793aac775294aa7" /><Relationship Type="http://schemas.openxmlformats.org/officeDocument/2006/relationships/slide" Target="/ppt/slides/slide3.xml" Id="R582a86bd0aba45c2" /><Relationship Type="http://schemas.openxmlformats.org/officeDocument/2006/relationships/slide" Target="/ppt/slides/slide4.xml" Id="R0408c7d8ec5549b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722e44ed3be45f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078c1ffc64b4479" /><Relationship Type="http://schemas.openxmlformats.org/officeDocument/2006/relationships/notesMaster" Target="/ppt/notesMasters/notesMaster1.xml" Id="R082dc4ef64b7427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350c96b0ebe45c2" /><Relationship Type="http://schemas.openxmlformats.org/officeDocument/2006/relationships/notesMaster" Target="/ppt/notesMasters/notesMaster1.xml" Id="R574a48100a854e8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5f2d06942db40e9" /><Relationship Type="http://schemas.openxmlformats.org/officeDocument/2006/relationships/notesMaster" Target="/ppt/notesMasters/notesMaster1.xml" Id="Rdc5bed4d6cb9476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ddb2d67242e403d" /><Relationship Type="http://schemas.openxmlformats.org/officeDocument/2006/relationships/notesMaster" Target="/ppt/notesMasters/notesMaster1.xml" Id="R62de16a294f8483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4e49de60971411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2e81ad0145b4f3b" /><Relationship Type="http://schemas.openxmlformats.org/officeDocument/2006/relationships/slideLayout" Target="/ppt/slideLayouts/slideLayout1.xml" Id="R3b9e5a2f52884df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b9e5a2f52884df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884806ea4c4548" /><Relationship Type="http://schemas.openxmlformats.org/officeDocument/2006/relationships/chart" Target="/ppt/slides/charts/chart1.xml" Id="R67188a916fd7413c" /><Relationship Type="http://schemas.openxmlformats.org/officeDocument/2006/relationships/notesSlide" Target="/ppt/notesSlides/notesSlide1.xml" Id="Ra72b9583aefb499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bbffc2739a48fa" /><Relationship Type="http://schemas.openxmlformats.org/officeDocument/2006/relationships/notesSlide" Target="/ppt/notesSlides/notesSlide2.xml" Id="R61a44b87dccf47e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29a225c5f24938" /><Relationship Type="http://schemas.openxmlformats.org/officeDocument/2006/relationships/notesSlide" Target="/ppt/notesSlides/notesSlide3.xml" Id="R8e96d199a88e4d8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270e7b40e04b5b" /><Relationship Type="http://schemas.openxmlformats.org/officeDocument/2006/relationships/notesSlide" Target="/ppt/notesSlides/notesSlide4.xml" Id="Ref8f2d4d7c1246ca" /></Relationships>
</file>

<file path=ppt/slides/charts/chart1.xml><?xml version="1.0" encoding="utf-8"?>
<c:chartSpace xmlns:c="http://schemas.openxmlformats.org/drawingml/2006/chart">
  <c:lang val="en-US"/>
  <c:chart>
    <c:plotArea>
      <c:lineChart>
        <c:grouping val="standard"/>
        <c:ser>
          <c:idx val="0"/>
          <c:order val="0"/>
          <c:tx>
            <c:v>Aided</c:v>
          </c:tx>
          <c:spPr>
            <a:ln xmlns:a="http://schemas.openxmlformats.org/drawingml/2006/main" w="28575">
              <a:solidFill>
                <a:srgbClr val="EF4444"/>
              </a:solidFill>
              <a:prstDash val="solid"/>
            </a:ln>
          </c:spPr>
          <c:marker>
            <c:symbol val="none"/>
          </c:marker>
          <c:cat>
            <c:strLit>
              <c:ptCount val="3"/>
              <c:pt idx="0">
                <c:v>Q4 '25</c:v>
              </c:pt>
              <c:pt idx="1">
                <c:v>Q1 '26</c:v>
              </c:pt>
              <c:pt idx="2">
                <c:v>Q2 '26</c:v>
              </c:pt>
            </c:strLit>
          </c:cat>
          <c:val>
            <c:numLit>
              <c:formatCode>0%</c:formatCode>
              <c:ptCount val="3"/>
              <c:pt idx="0">
                <c:v>0.488</c:v>
              </c:pt>
              <c:pt idx="1">
                <c:v>0.531</c:v>
              </c:pt>
              <c:pt idx="2">
                <c:v>0.41</c:v>
              </c:pt>
            </c:numLit>
          </c:val>
        </c:ser>
        <c:ser>
          <c:idx val="1"/>
          <c:order val="1"/>
          <c:tx>
            <c:v>Unaided</c:v>
          </c:tx>
          <c:spPr>
            <a:ln xmlns:a="http://schemas.openxmlformats.org/drawingml/2006/main" w="28575">
              <a:solidFill>
                <a:srgbClr val="7C3AED"/>
              </a:solidFill>
              <a:prstDash val="solid"/>
            </a:ln>
          </c:spPr>
          <c:marker>
            <c:symbol val="none"/>
          </c:marker>
          <c:cat>
            <c:strLit>
              <c:ptCount val="3"/>
              <c:pt idx="0">
                <c:v>Q4 '25</c:v>
              </c:pt>
              <c:pt idx="1">
                <c:v>Q1 '26</c:v>
              </c:pt>
              <c:pt idx="2">
                <c:v>Q2 '26</c:v>
              </c:pt>
            </c:strLit>
          </c:cat>
          <c:val>
            <c:numLit>
              <c:formatCode>0%</c:formatCode>
              <c:ptCount val="3"/>
              <c:pt idx="0">
                <c:v>0.08</c:v>
              </c:pt>
              <c:pt idx="1">
                <c:v>0.1</c:v>
              </c:pt>
              <c:pt idx="2">
                <c:v>0.11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E7DED2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42526B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DED2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E7DED2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42526B"/>
                </a:solidFill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000000">
            <a:alpha val="0"/>
          </a:srgbClr>
        </a:solidFill>
        <a:ln xmlns:a="http://schemas.openxmlformats.org/drawingml/2006/main" w="0">
          <a:solidFill>
            <a:srgbClr val="000000">
              <a:alpha val="0"/>
            </a:srgbClr>
          </a:solidFill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900">
              <a:solidFill>
                <a:srgbClr val="42526B"/>
              </a:solidFill>
            </a:defRPr>
          </a:pPr>
        </a:p>
      </c:txPr>
    </c:legend>
    <c:plotVisOnly val="1"/>
  </c:chart>
  <c:spPr>
    <a:solidFill xmlns:a="http://schemas.openxmlformats.org/drawingml/2006/main">
      <a:srgbClr val="000000">
        <a:alpha val="0"/>
      </a:srgbClr>
    </a:solidFill>
    <a:ln xmlns:a="http://schemas.openxmlformats.org/drawingml/2006/main" w="0">
      <a:solidFill>
        <a:srgbClr val="000000">
          <a:alpha val="0"/>
        </a:srgbClr>
      </a:solidFill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E7495F2-4A4F-40C6-8C06-FBABEEB6C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191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7C3AED"/>
                </a:solidFill>
              </a:defRPr>
            </a:pPr>
            <a:r>
              <a:rPr sz="900" b="1">
                <a:solidFill>
                  <a:srgbClr val="7C3AED"/>
                </a:solidFill>
              </a:rPr>
              <a:t>BRAND CAMPAIGN READ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2CC1D8-2EF7-4DBD-8725-88E559254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8382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7111F"/>
                </a:solidFill>
              </a:defRPr>
            </a:pPr>
            <a:r>
              <a:rPr sz="3000" b="1">
                <a:solidFill>
                  <a:srgbClr val="07111F"/>
                </a:solidFill>
              </a:rPr>
              <a:t>A campaign can lift awareness only if it gives Shapermint a sharper memory.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C478316-6137-4EDE-AAC0-F0A0B5B55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57350"/>
            <a:ext cx="742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42526B"/>
                </a:solidFill>
              </a:defRPr>
            </a:pPr>
            <a:r>
              <a:rPr sz="1350">
                <a:solidFill>
                  <a:srgbClr val="42526B"/>
                </a:solidFill>
              </a:rPr>
              <a:t>Q2 shows a small unaided gain but a broad aided-awareness reset. The opportunity is not more impressions alone; it is making Shapermint mean something Spanx and Skims do not already own.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E80641-064C-4E70-98C8-F77E588A0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47900"/>
            <a:ext cx="247650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E7DED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D796FC-438C-4495-B618-4D392CB5C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00300"/>
            <a:ext cx="2019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42526B"/>
                </a:solidFill>
              </a:defRPr>
            </a:pPr>
            <a:r>
              <a:rPr sz="975" b="1">
                <a:solidFill>
                  <a:srgbClr val="42526B"/>
                </a:solidFill>
              </a:rPr>
              <a:t>Unaided awareness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8FF5531-2285-4802-A523-714517C1F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243840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7C3AE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D26920A-51AD-4E28-A122-E887C94D8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47950"/>
            <a:ext cx="2133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7111F"/>
                </a:solidFill>
              </a:defRPr>
            </a:pPr>
            <a:r>
              <a:rPr sz="2250" b="1">
                <a:solidFill>
                  <a:srgbClr val="07111F"/>
                </a:solidFill>
              </a:rPr>
              <a:t>11%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C425BB6-EA82-4379-8804-30C0975A2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86100"/>
            <a:ext cx="2133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42526B"/>
                </a:solidFill>
              </a:defRPr>
            </a:pPr>
            <a:r>
              <a:rPr sz="1125">
                <a:solidFill>
                  <a:srgbClr val="42526B"/>
                </a:solidFill>
              </a:rPr>
              <a:t>+1pp QoQ, still 27pp behind Spanx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148CAFA-C242-4165-9CCD-E5270C810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247900"/>
            <a:ext cx="247650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E7DED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0D2B3D-B008-43AD-AC9F-3C5254454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2400300"/>
            <a:ext cx="2019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42526B"/>
                </a:solidFill>
              </a:defRPr>
            </a:pPr>
            <a:r>
              <a:rPr sz="975" b="1">
                <a:solidFill>
                  <a:srgbClr val="42526B"/>
                </a:solidFill>
              </a:rPr>
              <a:t>Aided awareness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6A0C4EF-7430-4426-B9C7-7B748ECCB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43840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0">
            <a:solidFill>
              <a:srgbClr val="EF444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0418DF-DC01-48FB-A8F5-93C39D584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2647950"/>
            <a:ext cx="2133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7111F"/>
                </a:solidFill>
              </a:defRPr>
            </a:pPr>
            <a:r>
              <a:rPr sz="2250" b="1">
                <a:solidFill>
                  <a:srgbClr val="07111F"/>
                </a:solidFill>
              </a:rPr>
              <a:t>41%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C63D000-72A1-4465-847A-DB11B7E99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3086100"/>
            <a:ext cx="2133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42526B"/>
                </a:solidFill>
              </a:defRPr>
            </a:pPr>
            <a:r>
              <a:rPr sz="1125">
                <a:solidFill>
                  <a:srgbClr val="42526B"/>
                </a:solidFill>
              </a:rPr>
              <a:t>-12pp QoQ; broad category drop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32A3F9F-4686-49A7-B7A4-7429EFBE6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247900"/>
            <a:ext cx="247650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E7DED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0C5E021-8E2B-462B-866F-E7C8F8DA6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400300"/>
            <a:ext cx="2019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42526B"/>
                </a:solidFill>
              </a:defRPr>
            </a:pPr>
            <a:r>
              <a:rPr sz="975" b="1">
                <a:solidFill>
                  <a:srgbClr val="42526B"/>
                </a:solidFill>
              </a:rPr>
              <a:t>Never heard Shapermint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57AAC5B-93D2-4174-B87C-659EEC3FF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43840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FA55D49-978D-453D-8913-018CF9E4A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647950"/>
            <a:ext cx="2133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7111F"/>
                </a:solidFill>
              </a:defRPr>
            </a:pPr>
            <a:r>
              <a:rPr sz="2250" b="1">
                <a:solidFill>
                  <a:srgbClr val="07111F"/>
                </a:solidFill>
              </a:rPr>
              <a:t>58.7%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14287CA-1C45-427D-B15D-8C358423C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3086100"/>
            <a:ext cx="2133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42526B"/>
                </a:solidFill>
              </a:defRPr>
            </a:pPr>
            <a:r>
              <a:rPr sz="1125">
                <a:solidFill>
                  <a:srgbClr val="42526B"/>
                </a:solidFill>
              </a:rPr>
              <a:t>Brand familiarity is the purchase barrier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A96BBBF-CCA0-4C8B-8E25-B815426E4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247900"/>
            <a:ext cx="247650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E7DED2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AFDAC69-16FD-4A7F-ADA8-AF72A5AC0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400300"/>
            <a:ext cx="2019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42526B"/>
                </a:solidFill>
              </a:defRPr>
            </a:pPr>
            <a:r>
              <a:rPr sz="975" b="1">
                <a:solidFill>
                  <a:srgbClr val="42526B"/>
                </a:solidFill>
              </a:rPr>
              <a:t>Would consider buying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751C88F-4369-4BDA-AE1C-BE414B4DF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1800" y="243840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51A8CC1-D762-46F8-A1E0-2E4E13CA8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647950"/>
            <a:ext cx="2133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7111F"/>
                </a:solidFill>
              </a:defRPr>
            </a:pPr>
            <a:r>
              <a:rPr sz="2250" b="1">
                <a:solidFill>
                  <a:srgbClr val="07111F"/>
                </a:solidFill>
              </a:rPr>
              <a:t>20.3%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306DA2F-384F-4997-A3AC-B1E03F653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086100"/>
            <a:ext cx="2133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42526B"/>
                </a:solidFill>
              </a:defRPr>
            </a:pPr>
            <a:r>
              <a:rPr sz="1125">
                <a:solidFill>
                  <a:srgbClr val="42526B"/>
                </a:solidFill>
              </a:rPr>
              <a:t>Purchase intent trails awareness</a:t>
            </a:r>
          </a:p>
        </p:txBody>
      </p:sp>
      <p:graphicFrame>
        <p:nvGraphicFramePr>
          <p:cNvPr id="53" name="Chart"/>
          <p:cNvGraphicFramePr/>
          <p:nvPr/>
        </p:nvGraphicFramePr>
        <p:xfrm>
          <a:off xmlns:a="http://schemas.openxmlformats.org/drawingml/2006/main" x="742950" y="3981450"/>
          <a:ext xmlns:a="http://schemas.openxmlformats.org/drawingml/2006/main" cx="6096000" cy="20383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7188a916fd7413c"/>
          </a:graphicData>
        </a:graphic>
      </p:graphicFrame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D6F30BA-1FE4-416D-9C4E-1F284E6EB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000500"/>
            <a:ext cx="3905250" cy="1790700"/>
          </a:xfrm>
          <a:prstGeom xmlns:a="http://schemas.openxmlformats.org/drawingml/2006/main" prst="roundRect">
            <a:avLst>
              <a:gd name="adj" fmla="val 6383"/>
            </a:avLst>
          </a:prstGeom>
          <a:solidFill xmlns:a="http://schemas.openxmlformats.org/drawingml/2006/main">
            <a:srgbClr val="0C1726"/>
          </a:solidFill>
          <a:ln xmlns:a="http://schemas.openxmlformats.org/drawingml/2006/main" w="0">
            <a:solidFill>
              <a:srgbClr val="0C1726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7234AD1-41D4-4DB5-A6F9-32C806550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426720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Campaign implication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045696A-68C1-4876-8DD5-8EFF6F09E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4610100"/>
            <a:ext cx="32956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Reshaping the Rules should create a repeatable brand cue: Shapermint adapts to her body and life, instead of asking her to adapt.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B580EDC-264D-4077-B5D6-90613E492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858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6B7280"/>
                </a:solidFill>
              </a:defRPr>
            </a:pPr>
            <a:r>
              <a:rPr sz="825">
                <a:solidFill>
                  <a:srgbClr val="6B7280"/>
                </a:solidFill>
              </a:rPr>
              <a:t>Source: Q2 2026 raw XLS/user-supplied tracker update; Q4 2025 table image; dashboard data model.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F300A93-B979-43F6-8D94-3D498D7E7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6515100"/>
            <a:ext cx="2133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42526B"/>
                </a:solidFill>
              </a:defRPr>
            </a:pPr>
            <a:r>
              <a:rPr sz="825" b="1">
                <a:solidFill>
                  <a:srgbClr val="42526B"/>
                </a:solidFill>
              </a:rPr>
              <a:t>US Brand Tracker | Shapermint</a:t>
            </a:r>
          </a:p>
        </p:txBody>
      </p:sp>
    </p:spTree>
    <p:extLst>
      <p:ext uri="{BB962C8B-B14F-4D97-AF65-F5344CB8AC3E}">
        <p14:creationId xmlns:p14="http://schemas.microsoft.com/office/powerpoint/2010/main" val="96566842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38BD5971-238B-4C35-BFFF-20BC5BFCE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191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7C3AED"/>
                </a:solidFill>
              </a:defRPr>
            </a:pPr>
            <a:r>
              <a:rPr sz="900" b="1">
                <a:solidFill>
                  <a:srgbClr val="7C3AED"/>
                </a:solidFill>
              </a:rPr>
              <a:t>Q17-Q19 DEEP DIVE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350CB9-1A5B-4C52-B647-914A7A629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8382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7111F"/>
                </a:solidFill>
              </a:defRPr>
            </a:pPr>
            <a:r>
              <a:rPr sz="3000" b="1">
                <a:solidFill>
                  <a:srgbClr val="07111F"/>
                </a:solidFill>
              </a:rPr>
              <a:t>The category tension is clear, but no brand owns the way out.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D98890-795F-4055-A125-B45A74E17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57350"/>
            <a:ext cx="742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42526B"/>
                </a:solidFill>
              </a:defRPr>
            </a:pPr>
            <a:r>
              <a:rPr sz="1350">
                <a:solidFill>
                  <a:srgbClr val="42526B"/>
                </a:solidFill>
              </a:rPr>
              <a:t>Respondents say shapewear still feels corrective, younger-skewed, and compromise-driven. Shapermint is not yet the brand that resolves that tension.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11D643-94D6-4D0A-A4B4-CE95EF728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00250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7C3AED"/>
                </a:solidFill>
              </a:defRPr>
            </a:pPr>
            <a:r>
              <a:rPr sz="1200" b="1">
                <a:solidFill>
                  <a:srgbClr val="7C3AED"/>
                </a:solidFill>
              </a:rPr>
              <a:t>Q17: Category problem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325447-1BC5-47E6-A198-1699E426A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43150"/>
            <a:ext cx="1085850" cy="4686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>
                <a:solidFill>
                  <a:srgbClr val="42526B"/>
                </a:solidFill>
              </a:defRPr>
            </a:pPr>
            <a:r>
              <a:rPr sz="825">
                <a:solidFill>
                  <a:srgbClr val="42526B"/>
                </a:solidFill>
              </a:rPr>
              <a:t>Looks slimmer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ED085B-90E4-48A2-BCB3-74AFF0D4B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2352675"/>
            <a:ext cx="1676400" cy="411480"/>
          </a:xfrm>
          <a:prstGeom xmlns:a="http://schemas.openxmlformats.org/drawingml/2006/main" prst="roundRect">
            <a:avLst>
              <a:gd name="adj" fmla="val 4630"/>
            </a:avLst>
          </a:prstGeom>
          <a:solidFill xmlns:a="http://schemas.openxmlformats.org/drawingml/2006/main">
            <a:srgbClr val="F3ECE3"/>
          </a:solidFill>
          <a:ln xmlns:a="http://schemas.openxmlformats.org/drawingml/2006/main" w="0">
            <a:solidFill>
              <a:srgbClr val="F3ECE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5FC5562-C8B9-46FB-BC4A-60FCF623A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2352675"/>
            <a:ext cx="1024128" cy="411480"/>
          </a:xfrm>
          <a:prstGeom xmlns:a="http://schemas.openxmlformats.org/drawingml/2006/main" prst="roundRect">
            <a:avLst>
              <a:gd name="adj" fmla="val 4630"/>
            </a:avLst>
          </a:prstGeom>
          <a:solidFill xmlns:a="http://schemas.openxmlformats.org/drawingml/2006/main">
            <a:srgbClr val="EC4899"/>
          </a:solidFill>
          <a:ln xmlns:a="http://schemas.openxmlformats.org/drawingml/2006/main" w="0">
            <a:solidFill>
              <a:srgbClr val="EC489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CDE4B7-8CA2-446E-A5E0-121EAAAB9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728" y="2362200"/>
            <a:ext cx="419100" cy="4686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7111F"/>
                </a:solidFill>
              </a:defRPr>
            </a:pPr>
            <a:r>
              <a:rPr sz="900" b="1">
                <a:solidFill>
                  <a:srgbClr val="07111F"/>
                </a:solidFill>
              </a:rPr>
              <a:t>34%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2175541-B26F-4D1C-B929-BE5CB9C2A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907030"/>
            <a:ext cx="1085850" cy="4686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>
                <a:solidFill>
                  <a:srgbClr val="42526B"/>
                </a:solidFill>
              </a:defRPr>
            </a:pPr>
            <a:r>
              <a:rPr sz="825">
                <a:solidFill>
                  <a:srgbClr val="42526B"/>
                </a:solidFill>
              </a:rPr>
              <a:t>Designed younger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C735563-2AA8-4D0D-B18F-92ACFEB65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2916555"/>
            <a:ext cx="1676400" cy="411480"/>
          </a:xfrm>
          <a:prstGeom xmlns:a="http://schemas.openxmlformats.org/drawingml/2006/main" prst="roundRect">
            <a:avLst>
              <a:gd name="adj" fmla="val 4630"/>
            </a:avLst>
          </a:prstGeom>
          <a:solidFill xmlns:a="http://schemas.openxmlformats.org/drawingml/2006/main">
            <a:srgbClr val="F3ECE3"/>
          </a:solidFill>
          <a:ln xmlns:a="http://schemas.openxmlformats.org/drawingml/2006/main" w="0">
            <a:solidFill>
              <a:srgbClr val="F3ECE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F5617BB-DDBC-43DA-A7B7-60591E88E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2916555"/>
            <a:ext cx="618744" cy="411480"/>
          </a:xfrm>
          <a:prstGeom xmlns:a="http://schemas.openxmlformats.org/drawingml/2006/main" prst="roundRect">
            <a:avLst>
              <a:gd name="adj" fmla="val 4630"/>
            </a:avLst>
          </a:prstGeom>
          <a:solidFill xmlns:a="http://schemas.openxmlformats.org/drawingml/2006/main">
            <a:srgbClr val="EC4899"/>
          </a:solidFill>
          <a:ln xmlns:a="http://schemas.openxmlformats.org/drawingml/2006/main" w="0">
            <a:solidFill>
              <a:srgbClr val="EC4899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ECD512E-3292-4244-8124-F3769ECF1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1344" y="2926080"/>
            <a:ext cx="419100" cy="4686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7111F"/>
                </a:solidFill>
              </a:defRPr>
            </a:pPr>
            <a:r>
              <a:rPr sz="900" b="1">
                <a:solidFill>
                  <a:srgbClr val="07111F"/>
                </a:solidFill>
              </a:rPr>
              <a:t>20%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7AC13B-4E51-44A2-8ECD-C9E6A6258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70910"/>
            <a:ext cx="1085850" cy="4686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>
                <a:solidFill>
                  <a:srgbClr val="42526B"/>
                </a:solidFill>
              </a:defRPr>
            </a:pPr>
            <a:r>
              <a:rPr sz="825">
                <a:solidFill>
                  <a:srgbClr val="42526B"/>
                </a:solidFill>
              </a:rPr>
              <a:t>Misses life stage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277BA4E-B344-4192-837F-02D37A46E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480435"/>
            <a:ext cx="1676400" cy="411480"/>
          </a:xfrm>
          <a:prstGeom xmlns:a="http://schemas.openxmlformats.org/drawingml/2006/main" prst="roundRect">
            <a:avLst>
              <a:gd name="adj" fmla="val 4630"/>
            </a:avLst>
          </a:prstGeom>
          <a:solidFill xmlns:a="http://schemas.openxmlformats.org/drawingml/2006/main">
            <a:srgbClr val="F3ECE3"/>
          </a:solidFill>
          <a:ln xmlns:a="http://schemas.openxmlformats.org/drawingml/2006/main" w="0">
            <a:solidFill>
              <a:srgbClr val="F3ECE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63BC95F-1CF4-41E1-9BD6-29A67E350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480435"/>
            <a:ext cx="600456" cy="411480"/>
          </a:xfrm>
          <a:prstGeom xmlns:a="http://schemas.openxmlformats.org/drawingml/2006/main" prst="roundRect">
            <a:avLst>
              <a:gd name="adj" fmla="val 4630"/>
            </a:avLst>
          </a:prstGeom>
          <a:solidFill xmlns:a="http://schemas.openxmlformats.org/drawingml/2006/main">
            <a:srgbClr val="EC4899"/>
          </a:solidFill>
          <a:ln xmlns:a="http://schemas.openxmlformats.org/drawingml/2006/main" w="0">
            <a:solidFill>
              <a:srgbClr val="EC489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C61153F-9F53-453D-80DE-1B0951BC5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3056" y="3489960"/>
            <a:ext cx="419100" cy="4686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7111F"/>
                </a:solidFill>
              </a:defRPr>
            </a:pPr>
            <a:r>
              <a:rPr sz="900" b="1">
                <a:solidFill>
                  <a:srgbClr val="07111F"/>
                </a:solidFill>
              </a:rPr>
              <a:t>20%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2635738-75D7-4FEF-BBED-61150FBC8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34790"/>
            <a:ext cx="1085850" cy="4686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>
                <a:solidFill>
                  <a:srgbClr val="42526B"/>
                </a:solidFill>
              </a:defRPr>
            </a:pPr>
            <a:r>
              <a:rPr sz="825">
                <a:solidFill>
                  <a:srgbClr val="42526B"/>
                </a:solidFill>
              </a:rPr>
              <a:t>Changes bodies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7C03318-8601-4D73-87EF-FD0BC1270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044315"/>
            <a:ext cx="1676400" cy="411480"/>
          </a:xfrm>
          <a:prstGeom xmlns:a="http://schemas.openxmlformats.org/drawingml/2006/main" prst="roundRect">
            <a:avLst>
              <a:gd name="adj" fmla="val 4630"/>
            </a:avLst>
          </a:prstGeom>
          <a:solidFill xmlns:a="http://schemas.openxmlformats.org/drawingml/2006/main">
            <a:srgbClr val="F3ECE3"/>
          </a:solidFill>
          <a:ln xmlns:a="http://schemas.openxmlformats.org/drawingml/2006/main" w="0">
            <a:solidFill>
              <a:srgbClr val="F3ECE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8AE81A2-2C2E-4FD3-96F6-8FDB3EE60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044315"/>
            <a:ext cx="521208" cy="411480"/>
          </a:xfrm>
          <a:prstGeom xmlns:a="http://schemas.openxmlformats.org/drawingml/2006/main" prst="roundRect">
            <a:avLst>
              <a:gd name="adj" fmla="val 4630"/>
            </a:avLst>
          </a:prstGeom>
          <a:solidFill xmlns:a="http://schemas.openxmlformats.org/drawingml/2006/main">
            <a:srgbClr val="EC4899"/>
          </a:solidFill>
          <a:ln xmlns:a="http://schemas.openxmlformats.org/drawingml/2006/main" w="0">
            <a:solidFill>
              <a:srgbClr val="EC4899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7B44497-6D08-4DAD-86D1-A9650CA41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3808" y="4053840"/>
            <a:ext cx="419100" cy="4686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7111F"/>
                </a:solidFill>
              </a:defRPr>
            </a:pPr>
            <a:r>
              <a:rPr sz="900" b="1">
                <a:solidFill>
                  <a:srgbClr val="07111F"/>
                </a:solidFill>
              </a:rPr>
              <a:t>17%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61473F9-7183-4437-A196-B96A260B8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98670"/>
            <a:ext cx="1085850" cy="4686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>
                <a:solidFill>
                  <a:srgbClr val="42526B"/>
                </a:solidFill>
              </a:defRPr>
            </a:pPr>
            <a:r>
              <a:rPr sz="825">
                <a:solidFill>
                  <a:srgbClr val="42526B"/>
                </a:solidFill>
              </a:rPr>
              <a:t>Compromise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D6FDA87-33D7-4112-9487-4E3DCB6DA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608195"/>
            <a:ext cx="1676400" cy="411480"/>
          </a:xfrm>
          <a:prstGeom xmlns:a="http://schemas.openxmlformats.org/drawingml/2006/main" prst="roundRect">
            <a:avLst>
              <a:gd name="adj" fmla="val 4630"/>
            </a:avLst>
          </a:prstGeom>
          <a:solidFill xmlns:a="http://schemas.openxmlformats.org/drawingml/2006/main">
            <a:srgbClr val="F3ECE3"/>
          </a:solidFill>
          <a:ln xmlns:a="http://schemas.openxmlformats.org/drawingml/2006/main" w="0">
            <a:solidFill>
              <a:srgbClr val="F3ECE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8C9C601-9A39-4810-B3F7-ED4ACC4CC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608195"/>
            <a:ext cx="289560" cy="411480"/>
          </a:xfrm>
          <a:prstGeom xmlns:a="http://schemas.openxmlformats.org/drawingml/2006/main" prst="roundRect">
            <a:avLst>
              <a:gd name="adj" fmla="val 6579"/>
            </a:avLst>
          </a:prstGeom>
          <a:solidFill xmlns:a="http://schemas.openxmlformats.org/drawingml/2006/main">
            <a:srgbClr val="EC4899"/>
          </a:solidFill>
          <a:ln xmlns:a="http://schemas.openxmlformats.org/drawingml/2006/main" w="0">
            <a:solidFill>
              <a:srgbClr val="EC4899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4CB58E0-240C-4B82-ADB9-C7FF863BF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2160" y="4617720"/>
            <a:ext cx="419100" cy="4686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7111F"/>
                </a:solidFill>
              </a:defRPr>
            </a:pPr>
            <a:r>
              <a:rPr sz="900" b="1">
                <a:solidFill>
                  <a:srgbClr val="07111F"/>
                </a:solidFill>
              </a:rPr>
              <a:t>10%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5BDFBE8-2BDA-44A0-AB31-6B48A9BA9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000250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7C3AED"/>
                </a:solidFill>
              </a:defRPr>
            </a:pPr>
            <a:r>
              <a:rPr sz="1200" b="1">
                <a:solidFill>
                  <a:srgbClr val="7C3AED"/>
                </a:solidFill>
              </a:rPr>
              <a:t>Q18: Brand moving beyond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BC7F365-2B5C-42D5-92DE-2B6A75B54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343150"/>
            <a:ext cx="1085850" cy="374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>
                <a:solidFill>
                  <a:srgbClr val="42526B"/>
                </a:solidFill>
              </a:defRPr>
            </a:pPr>
            <a:r>
              <a:rPr sz="825">
                <a:solidFill>
                  <a:srgbClr val="42526B"/>
                </a:solidFill>
              </a:rPr>
              <a:t>No brand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496FAF6-06F2-4D9A-AE35-8D7A2E8E4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2352675"/>
            <a:ext cx="1676400" cy="3175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F3ECE3"/>
          </a:solidFill>
          <a:ln xmlns:a="http://schemas.openxmlformats.org/drawingml/2006/main" w="0">
            <a:solidFill>
              <a:srgbClr val="F3ECE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5C80A1C-9CB7-4443-95DA-84F7746EC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2352675"/>
            <a:ext cx="1370923" cy="3175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CB185AC-D850-45E1-B213-F8DE0B00D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9723" y="2362200"/>
            <a:ext cx="419100" cy="374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7111F"/>
                </a:solidFill>
              </a:defRPr>
            </a:pPr>
            <a:r>
              <a:rPr sz="900" b="1">
                <a:solidFill>
                  <a:srgbClr val="07111F"/>
                </a:solidFill>
              </a:rPr>
              <a:t>37%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0737C3E-9886-4269-B7D0-A7636D3EE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813050"/>
            <a:ext cx="1085850" cy="374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>
                <a:solidFill>
                  <a:srgbClr val="42526B"/>
                </a:solidFill>
              </a:defRPr>
            </a:pPr>
            <a:r>
              <a:rPr sz="825">
                <a:solidFill>
                  <a:srgbClr val="42526B"/>
                </a:solidFill>
              </a:rPr>
              <a:t>Spanx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4790044-1E73-457E-A874-AF5C46EDA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2822575"/>
            <a:ext cx="1676400" cy="3175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F3ECE3"/>
          </a:solidFill>
          <a:ln xmlns:a="http://schemas.openxmlformats.org/drawingml/2006/main" w="0">
            <a:solidFill>
              <a:srgbClr val="F3ECE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AB12321-8C9F-4217-B3DD-544766B2F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2822575"/>
            <a:ext cx="670560" cy="3175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DC2A442-BFF9-444F-90DB-6B2DEF444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2832100"/>
            <a:ext cx="419100" cy="374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7111F"/>
                </a:solidFill>
              </a:defRPr>
            </a:pPr>
            <a:r>
              <a:rPr sz="900" b="1">
                <a:solidFill>
                  <a:srgbClr val="07111F"/>
                </a:solidFill>
              </a:rPr>
              <a:t>18%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60BA5C9-CEB8-41B3-9095-49AEAB67B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282950"/>
            <a:ext cx="1085850" cy="374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>
                <a:solidFill>
                  <a:srgbClr val="42526B"/>
                </a:solidFill>
              </a:defRPr>
            </a:pPr>
            <a:r>
              <a:rPr sz="825">
                <a:solidFill>
                  <a:srgbClr val="42526B"/>
                </a:solidFill>
              </a:rPr>
              <a:t>Skims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9179440-125F-4768-BD42-A66BD27CE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3292475"/>
            <a:ext cx="1676400" cy="3175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F3ECE3"/>
          </a:solidFill>
          <a:ln xmlns:a="http://schemas.openxmlformats.org/drawingml/2006/main" w="0">
            <a:solidFill>
              <a:srgbClr val="F3ECE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74D0581-6E69-416C-86A5-7C6481E59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3292475"/>
            <a:ext cx="577427" cy="3175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807C312-0E6E-45F5-A6AA-2F271B6AC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6227" y="3302000"/>
            <a:ext cx="419100" cy="374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7111F"/>
                </a:solidFill>
              </a:defRPr>
            </a:pPr>
            <a:r>
              <a:rPr sz="900" b="1">
                <a:solidFill>
                  <a:srgbClr val="07111F"/>
                </a:solidFill>
              </a:rPr>
              <a:t>16%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7D4CF19-154E-45F8-BD97-A1F89E8FF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752850"/>
            <a:ext cx="1085850" cy="374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>
                <a:solidFill>
                  <a:srgbClr val="42526B"/>
                </a:solidFill>
              </a:defRPr>
            </a:pPr>
            <a:r>
              <a:rPr sz="825">
                <a:solidFill>
                  <a:srgbClr val="42526B"/>
                </a:solidFill>
              </a:rPr>
              <a:t>Maidenform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51DCEF8-E6AD-4C51-9CD1-16FC4E2C9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3762375"/>
            <a:ext cx="1676400" cy="3175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F3ECE3"/>
          </a:solidFill>
          <a:ln xmlns:a="http://schemas.openxmlformats.org/drawingml/2006/main" w="0">
            <a:solidFill>
              <a:srgbClr val="F3ECE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38535B1-7274-4818-A1FF-2E9768FBF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3762375"/>
            <a:ext cx="454491" cy="3175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9CB87C1-2C32-4E0A-828B-25573D81F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3291" y="3771900"/>
            <a:ext cx="419100" cy="374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7111F"/>
                </a:solidFill>
              </a:defRPr>
            </a:pPr>
            <a:r>
              <a:rPr sz="900" b="1">
                <a:solidFill>
                  <a:srgbClr val="07111F"/>
                </a:solidFill>
              </a:rPr>
              <a:t>12%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D74ED9D-768E-4C5F-979A-6A0E4DDFA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222750"/>
            <a:ext cx="1085850" cy="374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>
                <a:solidFill>
                  <a:srgbClr val="42526B"/>
                </a:solidFill>
              </a:defRPr>
            </a:pPr>
            <a:r>
              <a:rPr sz="825">
                <a:solidFill>
                  <a:srgbClr val="42526B"/>
                </a:solidFill>
              </a:rPr>
              <a:t>Honeylove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EAC8890-AEF4-44A5-845B-064CA1E14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4232275"/>
            <a:ext cx="1676400" cy="3175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F3ECE3"/>
          </a:solidFill>
          <a:ln xmlns:a="http://schemas.openxmlformats.org/drawingml/2006/main" w="0">
            <a:solidFill>
              <a:srgbClr val="F3ECE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EEF02C8-60D1-4608-A0D3-5D93E05EA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4232275"/>
            <a:ext cx="331555" cy="3175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79D8863-E851-4531-921E-E8BBBD3D6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0355" y="4241800"/>
            <a:ext cx="419100" cy="374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7111F"/>
                </a:solidFill>
              </a:defRPr>
            </a:pPr>
            <a:r>
              <a:rPr sz="900" b="1">
                <a:solidFill>
                  <a:srgbClr val="07111F"/>
                </a:solidFill>
              </a:rPr>
              <a:t>9%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FD06AF6-9FB8-4B3F-BB36-4E6C391C8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692650"/>
            <a:ext cx="1085850" cy="374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>
                <a:solidFill>
                  <a:srgbClr val="42526B"/>
                </a:solidFill>
              </a:defRPr>
            </a:pPr>
            <a:r>
              <a:rPr sz="825">
                <a:solidFill>
                  <a:srgbClr val="42526B"/>
                </a:solidFill>
              </a:rPr>
              <a:t>Shapermint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BD93BB2-EEAA-4B9E-90E2-4C2418639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4702175"/>
            <a:ext cx="1676400" cy="3175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F3ECE3"/>
          </a:solidFill>
          <a:ln xmlns:a="http://schemas.openxmlformats.org/drawingml/2006/main" w="0">
            <a:solidFill>
              <a:srgbClr val="F3ECE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25D1129E-CD5E-459A-95A0-70358C918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4702175"/>
            <a:ext cx="257048" cy="317500"/>
          </a:xfrm>
          <a:prstGeom xmlns:a="http://schemas.openxmlformats.org/drawingml/2006/main" prst="roundRect">
            <a:avLst>
              <a:gd name="adj" fmla="val 7411"/>
            </a:avLst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BCAF97C2-B5CF-429D-AB6C-2DA633C4C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5848" y="4711700"/>
            <a:ext cx="419100" cy="374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7111F"/>
                </a:solidFill>
              </a:defRPr>
            </a:pPr>
            <a:r>
              <a:rPr sz="900" b="1">
                <a:solidFill>
                  <a:srgbClr val="07111F"/>
                </a:solidFill>
              </a:rPr>
              <a:t>7%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57A5D24-F799-4FA7-A731-DD69E0744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000250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7C3AED"/>
                </a:solidFill>
              </a:defRPr>
            </a:pPr>
            <a:r>
              <a:rPr sz="1200" b="1">
                <a:solidFill>
                  <a:srgbClr val="7C3AED"/>
                </a:solidFill>
              </a:rPr>
              <a:t>Q19: Campaign hooks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BC5C30C3-045F-4A14-B439-83ABC1FE8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343150"/>
            <a:ext cx="1085850" cy="4686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>
                <a:solidFill>
                  <a:srgbClr val="42526B"/>
                </a:solidFill>
              </a:defRPr>
            </a:pPr>
            <a:r>
              <a:rPr sz="825">
                <a:solidFill>
                  <a:srgbClr val="42526B"/>
                </a:solidFill>
              </a:rPr>
              <a:t>Adapts to body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DCF696CF-71F6-408E-8D6A-26D00BEB7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352675"/>
            <a:ext cx="1676400" cy="411480"/>
          </a:xfrm>
          <a:prstGeom xmlns:a="http://schemas.openxmlformats.org/drawingml/2006/main" prst="roundRect">
            <a:avLst>
              <a:gd name="adj" fmla="val 4630"/>
            </a:avLst>
          </a:prstGeom>
          <a:solidFill xmlns:a="http://schemas.openxmlformats.org/drawingml/2006/main">
            <a:srgbClr val="F3ECE3"/>
          </a:solidFill>
          <a:ln xmlns:a="http://schemas.openxmlformats.org/drawingml/2006/main" w="0">
            <a:solidFill>
              <a:srgbClr val="F3ECE3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B6D5B3AD-58D3-4272-94AF-7CA12E08F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352675"/>
            <a:ext cx="1433322" cy="411480"/>
          </a:xfrm>
          <a:prstGeom xmlns:a="http://schemas.openxmlformats.org/drawingml/2006/main" prst="roundRect">
            <a:avLst>
              <a:gd name="adj" fmla="val 4630"/>
            </a:avLst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7C3AED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C30CAFA-D589-416B-B8A0-E3D180D41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8322" y="2362200"/>
            <a:ext cx="419100" cy="4686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7111F"/>
                </a:solidFill>
              </a:defRPr>
            </a:pPr>
            <a:r>
              <a:rPr sz="900" b="1">
                <a:solidFill>
                  <a:srgbClr val="07111F"/>
                </a:solidFill>
              </a:rPr>
              <a:t>51%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99B42BC4-0975-4A59-988B-169B2BF03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907030"/>
            <a:ext cx="1085850" cy="4686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>
                <a:solidFill>
                  <a:srgbClr val="42526B"/>
                </a:solidFill>
              </a:defRPr>
            </a:pPr>
            <a:r>
              <a:rPr sz="825">
                <a:solidFill>
                  <a:srgbClr val="42526B"/>
                </a:solidFill>
              </a:rPr>
              <a:t>Understands stage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0EC9B9ED-3DDB-47CA-90C2-DD3685162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916555"/>
            <a:ext cx="1676400" cy="411480"/>
          </a:xfrm>
          <a:prstGeom xmlns:a="http://schemas.openxmlformats.org/drawingml/2006/main" prst="roundRect">
            <a:avLst>
              <a:gd name="adj" fmla="val 4630"/>
            </a:avLst>
          </a:prstGeom>
          <a:solidFill xmlns:a="http://schemas.openxmlformats.org/drawingml/2006/main">
            <a:srgbClr val="F3ECE3"/>
          </a:solidFill>
          <a:ln xmlns:a="http://schemas.openxmlformats.org/drawingml/2006/main" w="0">
            <a:solidFill>
              <a:srgbClr val="F3ECE3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ADB9F2E7-9045-4593-A56E-005F5C633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916555"/>
            <a:ext cx="1419352" cy="411480"/>
          </a:xfrm>
          <a:prstGeom xmlns:a="http://schemas.openxmlformats.org/drawingml/2006/main" prst="roundRect">
            <a:avLst>
              <a:gd name="adj" fmla="val 4630"/>
            </a:avLst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7C3AED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7AD42378-980A-4D77-9A73-E3CAD3A52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4352" y="2926080"/>
            <a:ext cx="419100" cy="4686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7111F"/>
                </a:solidFill>
              </a:defRPr>
            </a:pPr>
            <a:r>
              <a:rPr sz="900" b="1">
                <a:solidFill>
                  <a:srgbClr val="07111F"/>
                </a:solidFill>
              </a:rPr>
              <a:t>51%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06042E9A-3F3C-469E-BE16-DB0BBEB61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470910"/>
            <a:ext cx="1085850" cy="4686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>
                <a:solidFill>
                  <a:srgbClr val="42526B"/>
                </a:solidFill>
              </a:defRPr>
            </a:pPr>
            <a:r>
              <a:rPr sz="825">
                <a:solidFill>
                  <a:srgbClr val="42526B"/>
                </a:solidFill>
              </a:rPr>
              <a:t>Comfort powerful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22BD3E92-7822-400E-A32E-18964DD19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3480435"/>
            <a:ext cx="1676400" cy="411480"/>
          </a:xfrm>
          <a:prstGeom xmlns:a="http://schemas.openxmlformats.org/drawingml/2006/main" prst="roundRect">
            <a:avLst>
              <a:gd name="adj" fmla="val 4630"/>
            </a:avLst>
          </a:prstGeom>
          <a:solidFill xmlns:a="http://schemas.openxmlformats.org/drawingml/2006/main">
            <a:srgbClr val="F3ECE3"/>
          </a:solidFill>
          <a:ln xmlns:a="http://schemas.openxmlformats.org/drawingml/2006/main" w="0">
            <a:solidFill>
              <a:srgbClr val="F3ECE3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063B059B-B8E1-4E1F-A5E5-9F8BB160E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3480435"/>
            <a:ext cx="1179068" cy="411480"/>
          </a:xfrm>
          <a:prstGeom xmlns:a="http://schemas.openxmlformats.org/drawingml/2006/main" prst="roundRect">
            <a:avLst>
              <a:gd name="adj" fmla="val 4630"/>
            </a:avLst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7C3AED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F4FFB051-001E-4485-A9AD-10A83D923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4068" y="3489960"/>
            <a:ext cx="419100" cy="4686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7111F"/>
                </a:solidFill>
              </a:defRPr>
            </a:pPr>
            <a:r>
              <a:rPr sz="900" b="1">
                <a:solidFill>
                  <a:srgbClr val="07111F"/>
                </a:solidFill>
              </a:rPr>
              <a:t>42%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12EB976D-BE85-4C4F-A59C-524822F37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034790"/>
            <a:ext cx="1085850" cy="4686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>
                <a:solidFill>
                  <a:srgbClr val="42526B"/>
                </a:solidFill>
              </a:defRPr>
            </a:pPr>
            <a:r>
              <a:rPr sz="825">
                <a:solidFill>
                  <a:srgbClr val="42526B"/>
                </a:solidFill>
              </a:rPr>
              <a:t>Stop thinking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8F709901-2AA8-48BF-8928-E9F5954DF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4044315"/>
            <a:ext cx="1676400" cy="411480"/>
          </a:xfrm>
          <a:prstGeom xmlns:a="http://schemas.openxmlformats.org/drawingml/2006/main" prst="roundRect">
            <a:avLst>
              <a:gd name="adj" fmla="val 4630"/>
            </a:avLst>
          </a:prstGeom>
          <a:solidFill xmlns:a="http://schemas.openxmlformats.org/drawingml/2006/main">
            <a:srgbClr val="F3ECE3"/>
          </a:solidFill>
          <a:ln xmlns:a="http://schemas.openxmlformats.org/drawingml/2006/main" w="0">
            <a:solidFill>
              <a:srgbClr val="F3ECE3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E8F8DA83-3D15-422B-88FF-D4B71D1E2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4044315"/>
            <a:ext cx="732028" cy="411480"/>
          </a:xfrm>
          <a:prstGeom xmlns:a="http://schemas.openxmlformats.org/drawingml/2006/main" prst="roundRect">
            <a:avLst>
              <a:gd name="adj" fmla="val 4630"/>
            </a:avLst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7C3AED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D3FE523E-96B0-4530-9B5B-63100CEE3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7028" y="4053840"/>
            <a:ext cx="419100" cy="4686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7111F"/>
                </a:solidFill>
              </a:defRPr>
            </a:pPr>
            <a:r>
              <a:rPr sz="900" b="1">
                <a:solidFill>
                  <a:srgbClr val="07111F"/>
                </a:solidFill>
              </a:rPr>
              <a:t>26%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C65186F7-6FA1-46B0-A438-361274861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598670"/>
            <a:ext cx="1085850" cy="4686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>
                <a:solidFill>
                  <a:srgbClr val="42526B"/>
                </a:solidFill>
              </a:defRPr>
            </a:pPr>
            <a:r>
              <a:rPr sz="825">
                <a:solidFill>
                  <a:srgbClr val="42526B"/>
                </a:solidFill>
              </a:rPr>
              <a:t>Own terms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F65B2247-E91E-4653-95A6-C878B431F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4608195"/>
            <a:ext cx="1676400" cy="411480"/>
          </a:xfrm>
          <a:prstGeom xmlns:a="http://schemas.openxmlformats.org/drawingml/2006/main" prst="roundRect">
            <a:avLst>
              <a:gd name="adj" fmla="val 4630"/>
            </a:avLst>
          </a:prstGeom>
          <a:solidFill xmlns:a="http://schemas.openxmlformats.org/drawingml/2006/main">
            <a:srgbClr val="F3ECE3"/>
          </a:solidFill>
          <a:ln xmlns:a="http://schemas.openxmlformats.org/drawingml/2006/main" w="0">
            <a:solidFill>
              <a:srgbClr val="F3ECE3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044E0195-BDE1-4A98-873A-8C45A4F6A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4608195"/>
            <a:ext cx="572770" cy="411480"/>
          </a:xfrm>
          <a:prstGeom xmlns:a="http://schemas.openxmlformats.org/drawingml/2006/main" prst="roundRect">
            <a:avLst>
              <a:gd name="adj" fmla="val 4630"/>
            </a:avLst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7C3AED"/>
            </a:solidFill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5D4BCA8F-D408-4413-9D73-20BF28252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7770" y="4617720"/>
            <a:ext cx="419100" cy="4686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7111F"/>
                </a:solidFill>
              </a:defRPr>
            </a:pPr>
            <a:r>
              <a:rPr sz="900" b="1">
                <a:solidFill>
                  <a:srgbClr val="07111F"/>
                </a:solidFill>
              </a:rPr>
              <a:t>21%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B9ED6363-8156-4427-851A-5C34CADDB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524500"/>
            <a:ext cx="971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7111F"/>
                </a:solidFill>
              </a:defRPr>
            </a:pPr>
            <a:r>
              <a:rPr sz="1800" b="1">
                <a:solidFill>
                  <a:srgbClr val="07111F"/>
                </a:solidFill>
              </a:rPr>
              <a:t>The brief practically writes itself: lead with adaptation, life stage, and powerful comfort. Do not lead with slimming.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85234841-690E-4730-BE3D-2DD613236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858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6B7280"/>
                </a:solidFill>
              </a:defRPr>
            </a:pPr>
            <a:r>
              <a:rPr sz="825">
                <a:solidFill>
                  <a:srgbClr val="6B7280"/>
                </a:solidFill>
              </a:rPr>
              <a:t>Source: Q2 2026 Brand Tracker export-10197.xls, Q17-Q19 aggregate tables.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B0647C4E-7A87-404A-AF5A-E0DDD23F0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6515100"/>
            <a:ext cx="2133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42526B"/>
                </a:solidFill>
              </a:defRPr>
            </a:pPr>
            <a:r>
              <a:rPr sz="825" b="1">
                <a:solidFill>
                  <a:srgbClr val="42526B"/>
                </a:solidFill>
              </a:rPr>
              <a:t>US Brand Tracker | Shapermint</a:t>
            </a:r>
          </a:p>
        </p:txBody>
      </p:sp>
    </p:spTree>
    <p:extLst>
      <p:ext uri="{BB962C8B-B14F-4D97-AF65-F5344CB8AC3E}">
        <p14:creationId xmlns:p14="http://schemas.microsoft.com/office/powerpoint/2010/main" val="140534213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28034EC1-CB92-4EC3-8712-DBE663503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191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7C3AED"/>
                </a:solidFill>
              </a:defRPr>
            </a:pPr>
            <a:r>
              <a:rPr sz="900" b="1">
                <a:solidFill>
                  <a:srgbClr val="7C3AED"/>
                </a:solidFill>
              </a:rPr>
              <a:t>SUPPLIED AGE SPLIT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30D3354-3D4D-4B37-9CE9-CAD955E9E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8382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7111F"/>
                </a:solidFill>
              </a:defRPr>
            </a:pPr>
            <a:r>
              <a:rPr sz="3000" b="1">
                <a:solidFill>
                  <a:srgbClr val="07111F"/>
                </a:solidFill>
              </a:rPr>
              <a:t>The promise can travel across ages; the competitor to beat changes.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4160A8-E8DB-422B-B4E2-082EECCCC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57350"/>
            <a:ext cx="742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42526B"/>
                </a:solidFill>
              </a:defRPr>
            </a:pPr>
            <a:r>
              <a:rPr sz="1350">
                <a:solidFill>
                  <a:srgbClr val="42526B"/>
                </a:solidFill>
              </a:rPr>
              <a:t>The supplied age-filtered exports are Q4 2025, not Q2 2026 Q17-Q19. They still show a useful directional read: under-40 is a Skims battle, while 40+ is a Spanx/Maidenform battle.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580010-5A7B-4C94-BD31-FCA20FF3F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03835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7C3AED"/>
                </a:solidFill>
              </a:defRPr>
            </a:pPr>
            <a:r>
              <a:rPr sz="1200" b="1">
                <a:solidFill>
                  <a:srgbClr val="7C3AED"/>
                </a:solidFill>
              </a:rPr>
              <a:t>Shapermint read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A0BC39-D20B-4A7D-BA11-8D4B8C27E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400300"/>
            <a:ext cx="1085850" cy="350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>
                <a:solidFill>
                  <a:srgbClr val="42526B"/>
                </a:solidFill>
              </a:defRPr>
            </a:pPr>
            <a:r>
              <a:rPr sz="825">
                <a:solidFill>
                  <a:srgbClr val="42526B"/>
                </a:solidFill>
              </a:rPr>
              <a:t>Aided awareness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E86BD51-337E-45AF-9091-BAA7CC54F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409825"/>
            <a:ext cx="1628775" cy="293370"/>
          </a:xfrm>
          <a:prstGeom xmlns:a="http://schemas.openxmlformats.org/drawingml/2006/main" prst="roundRect">
            <a:avLst>
              <a:gd name="adj" fmla="val 6494"/>
            </a:avLst>
          </a:prstGeom>
          <a:solidFill xmlns:a="http://schemas.openxmlformats.org/drawingml/2006/main">
            <a:srgbClr val="F3ECE3"/>
          </a:solidFill>
          <a:ln xmlns:a="http://schemas.openxmlformats.org/drawingml/2006/main" w="0">
            <a:solidFill>
              <a:srgbClr val="F3ECE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6844DEE-9323-4935-A77E-30D391450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409825"/>
            <a:ext cx="1189006" cy="293370"/>
          </a:xfrm>
          <a:prstGeom xmlns:a="http://schemas.openxmlformats.org/drawingml/2006/main" prst="roundRect">
            <a:avLst>
              <a:gd name="adj" fmla="val 6494"/>
            </a:avLst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7C3AE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6A7B6BC-ADA3-42D0-8B81-EFF1B297F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806" y="2419350"/>
            <a:ext cx="419100" cy="350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7111F"/>
                </a:solidFill>
              </a:defRPr>
            </a:pPr>
            <a:r>
              <a:rPr sz="900" b="1">
                <a:solidFill>
                  <a:srgbClr val="07111F"/>
                </a:solidFill>
              </a:rPr>
              <a:t>51%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CCF073A-2B4B-4963-AA61-DC75B18DE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46070"/>
            <a:ext cx="1085850" cy="350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>
                <a:solidFill>
                  <a:srgbClr val="42526B"/>
                </a:solidFill>
              </a:defRPr>
            </a:pPr>
            <a:r>
              <a:rPr sz="825">
                <a:solidFill>
                  <a:srgbClr val="42526B"/>
                </a:solidFill>
              </a:rPr>
              <a:t>Serious consideration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7BC4D9-BB9D-46D0-8D6C-350BACA12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855595"/>
            <a:ext cx="1628775" cy="293370"/>
          </a:xfrm>
          <a:prstGeom xmlns:a="http://schemas.openxmlformats.org/drawingml/2006/main" prst="roundRect">
            <a:avLst>
              <a:gd name="adj" fmla="val 6494"/>
            </a:avLst>
          </a:prstGeom>
          <a:solidFill xmlns:a="http://schemas.openxmlformats.org/drawingml/2006/main">
            <a:srgbClr val="F3ECE3"/>
          </a:solidFill>
          <a:ln xmlns:a="http://schemas.openxmlformats.org/drawingml/2006/main" w="0">
            <a:solidFill>
              <a:srgbClr val="F3ECE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0DA6E73-C9E7-4498-9EA3-4666FBBD8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855595"/>
            <a:ext cx="616608" cy="293370"/>
          </a:xfrm>
          <a:prstGeom xmlns:a="http://schemas.openxmlformats.org/drawingml/2006/main" prst="roundRect">
            <a:avLst>
              <a:gd name="adj" fmla="val 6494"/>
            </a:avLst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7C3AE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68F347A-F842-498F-8D88-3B3A36319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5408" y="2865120"/>
            <a:ext cx="419100" cy="350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7111F"/>
                </a:solidFill>
              </a:defRPr>
            </a:pPr>
            <a:r>
              <a:rPr sz="900" b="1">
                <a:solidFill>
                  <a:srgbClr val="07111F"/>
                </a:solidFill>
              </a:rPr>
              <a:t>27%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0E35F8E-5A84-4130-85FE-D331402E6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291840"/>
            <a:ext cx="1085850" cy="350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>
                <a:solidFill>
                  <a:srgbClr val="42526B"/>
                </a:solidFill>
              </a:defRPr>
            </a:pPr>
            <a:r>
              <a:rPr sz="825">
                <a:solidFill>
                  <a:srgbClr val="42526B"/>
                </a:solidFill>
              </a:rPr>
              <a:t>Choose Shapermint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1379CA6-BD51-4DF8-9A73-E49A3D772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301365"/>
            <a:ext cx="1628775" cy="293370"/>
          </a:xfrm>
          <a:prstGeom xmlns:a="http://schemas.openxmlformats.org/drawingml/2006/main" prst="roundRect">
            <a:avLst>
              <a:gd name="adj" fmla="val 6494"/>
            </a:avLst>
          </a:prstGeom>
          <a:solidFill xmlns:a="http://schemas.openxmlformats.org/drawingml/2006/main">
            <a:srgbClr val="F3ECE3"/>
          </a:solidFill>
          <a:ln xmlns:a="http://schemas.openxmlformats.org/drawingml/2006/main" w="0">
            <a:solidFill>
              <a:srgbClr val="F3ECE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3417D1C-89C5-4D09-8AF3-6510A55D8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301365"/>
            <a:ext cx="148917" cy="293370"/>
          </a:xfrm>
          <a:prstGeom xmlns:a="http://schemas.openxmlformats.org/drawingml/2006/main" prst="roundRect">
            <a:avLst>
              <a:gd name="adj" fmla="val 12792"/>
            </a:avLst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7C3AE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ACCAC28-C04E-46B0-AB30-AB5D60A4D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7717" y="3310890"/>
            <a:ext cx="419100" cy="350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7111F"/>
                </a:solidFill>
              </a:defRPr>
            </a:pPr>
            <a:r>
              <a:rPr sz="900" b="1">
                <a:solidFill>
                  <a:srgbClr val="07111F"/>
                </a:solidFill>
              </a:rPr>
              <a:t>6%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62DBA80-8D51-43AA-B228-5058876A3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737610"/>
            <a:ext cx="1085850" cy="350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>
                <a:solidFill>
                  <a:srgbClr val="42526B"/>
                </a:solidFill>
              </a:defRPr>
            </a:pPr>
            <a:r>
              <a:rPr sz="825">
                <a:solidFill>
                  <a:srgbClr val="42526B"/>
                </a:solidFill>
              </a:rPr>
              <a:t>Good value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A7D5137-DB06-42F8-BE9D-58F0F8D3E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747135"/>
            <a:ext cx="1628775" cy="293370"/>
          </a:xfrm>
          <a:prstGeom xmlns:a="http://schemas.openxmlformats.org/drawingml/2006/main" prst="roundRect">
            <a:avLst>
              <a:gd name="adj" fmla="val 6494"/>
            </a:avLst>
          </a:prstGeom>
          <a:solidFill xmlns:a="http://schemas.openxmlformats.org/drawingml/2006/main">
            <a:srgbClr val="F3ECE3"/>
          </a:solidFill>
          <a:ln xmlns:a="http://schemas.openxmlformats.org/drawingml/2006/main" w="0">
            <a:solidFill>
              <a:srgbClr val="F3ECE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4095672-6624-4D29-B880-F79897B99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747135"/>
            <a:ext cx="1426342" cy="293370"/>
          </a:xfrm>
          <a:prstGeom xmlns:a="http://schemas.openxmlformats.org/drawingml/2006/main" prst="roundRect">
            <a:avLst>
              <a:gd name="adj" fmla="val 6494"/>
            </a:avLst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7C3AE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A867128-8C83-414F-AFE4-966CD5AAF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5142" y="3756660"/>
            <a:ext cx="419100" cy="350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7111F"/>
                </a:solidFill>
              </a:defRPr>
            </a:pPr>
            <a:r>
              <a:rPr sz="900" b="1">
                <a:solidFill>
                  <a:srgbClr val="07111F"/>
                </a:solidFill>
              </a:rPr>
              <a:t>61%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93CCF23-93B1-402B-8B72-2B7567387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183380"/>
            <a:ext cx="1085850" cy="350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>
                <a:solidFill>
                  <a:srgbClr val="42526B"/>
                </a:solidFill>
              </a:defRPr>
            </a:pPr>
            <a:r>
              <a:rPr sz="825">
                <a:solidFill>
                  <a:srgbClr val="42526B"/>
                </a:solidFill>
              </a:rPr>
              <a:t>Pay more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7181FC2-38CD-4CB7-9D44-A38C6408B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192905"/>
            <a:ext cx="1628775" cy="293370"/>
          </a:xfrm>
          <a:prstGeom xmlns:a="http://schemas.openxmlformats.org/drawingml/2006/main" prst="roundRect">
            <a:avLst>
              <a:gd name="adj" fmla="val 6494"/>
            </a:avLst>
          </a:prstGeom>
          <a:solidFill xmlns:a="http://schemas.openxmlformats.org/drawingml/2006/main">
            <a:srgbClr val="F3ECE3"/>
          </a:solidFill>
          <a:ln xmlns:a="http://schemas.openxmlformats.org/drawingml/2006/main" w="0">
            <a:solidFill>
              <a:srgbClr val="F3ECE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CCB9EBE-B23A-4E8C-978F-210FCB9BF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192905"/>
            <a:ext cx="1116874" cy="293370"/>
          </a:xfrm>
          <a:prstGeom xmlns:a="http://schemas.openxmlformats.org/drawingml/2006/main" prst="roundRect">
            <a:avLst>
              <a:gd name="adj" fmla="val 6494"/>
            </a:avLst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7C3AED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CF7D0BF-CE06-4D71-A41A-F8A0E8DA1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5674" y="4202430"/>
            <a:ext cx="419100" cy="350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7111F"/>
                </a:solidFill>
              </a:defRPr>
            </a:pPr>
            <a:r>
              <a:rPr sz="900" b="1">
                <a:solidFill>
                  <a:srgbClr val="07111F"/>
                </a:solidFill>
              </a:rPr>
              <a:t>48%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E0AFDC0-D940-45E3-8154-36955AEA6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7815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7C3AED"/>
                </a:solidFill>
              </a:defRPr>
            </a:pPr>
            <a:r>
              <a:rPr sz="1125" b="1">
                <a:solidFill>
                  <a:srgbClr val="7C3AED"/>
                </a:solidFill>
              </a:rPr>
              <a:t>Under 40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10C951E-3E37-47AB-84CF-FCE186D87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400300"/>
            <a:ext cx="1085850" cy="350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>
                <a:solidFill>
                  <a:srgbClr val="42526B"/>
                </a:solidFill>
              </a:defRPr>
            </a:pPr>
            <a:r>
              <a:rPr sz="825">
                <a:solidFill>
                  <a:srgbClr val="42526B"/>
                </a:solidFill>
              </a:rPr>
              <a:t>Aided awareness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B100FC3-18C2-4CBA-9B04-B79F0E5FA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409825"/>
            <a:ext cx="1628775" cy="293370"/>
          </a:xfrm>
          <a:prstGeom xmlns:a="http://schemas.openxmlformats.org/drawingml/2006/main" prst="roundRect">
            <a:avLst>
              <a:gd name="adj" fmla="val 6494"/>
            </a:avLst>
          </a:prstGeom>
          <a:solidFill xmlns:a="http://schemas.openxmlformats.org/drawingml/2006/main">
            <a:srgbClr val="F3ECE3"/>
          </a:solidFill>
          <a:ln xmlns:a="http://schemas.openxmlformats.org/drawingml/2006/main" w="0">
            <a:solidFill>
              <a:srgbClr val="F3ECE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AD7C8B1-8296-41B4-B127-ADCB4807E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409825"/>
            <a:ext cx="1093606" cy="293370"/>
          </a:xfrm>
          <a:prstGeom xmlns:a="http://schemas.openxmlformats.org/drawingml/2006/main" prst="roundRect">
            <a:avLst>
              <a:gd name="adj" fmla="val 6494"/>
            </a:avLst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79A4099-319F-4B62-AA9F-D6F728516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3806" y="2419350"/>
            <a:ext cx="419100" cy="350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7111F"/>
                </a:solidFill>
              </a:defRPr>
            </a:pPr>
            <a:r>
              <a:rPr sz="900" b="1">
                <a:solidFill>
                  <a:srgbClr val="07111F"/>
                </a:solidFill>
              </a:rPr>
              <a:t>47%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7786F22-4E33-46C4-B54D-5422801D1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846070"/>
            <a:ext cx="1085850" cy="350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>
                <a:solidFill>
                  <a:srgbClr val="42526B"/>
                </a:solidFill>
              </a:defRPr>
            </a:pPr>
            <a:r>
              <a:rPr sz="825">
                <a:solidFill>
                  <a:srgbClr val="42526B"/>
                </a:solidFill>
              </a:rPr>
              <a:t>Serious consideration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C0DF0D1-CEDE-432E-B680-7EF5A1EE1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855595"/>
            <a:ext cx="1628775" cy="293370"/>
          </a:xfrm>
          <a:prstGeom xmlns:a="http://schemas.openxmlformats.org/drawingml/2006/main" prst="roundRect">
            <a:avLst>
              <a:gd name="adj" fmla="val 6494"/>
            </a:avLst>
          </a:prstGeom>
          <a:solidFill xmlns:a="http://schemas.openxmlformats.org/drawingml/2006/main">
            <a:srgbClr val="F3ECE3"/>
          </a:solidFill>
          <a:ln xmlns:a="http://schemas.openxmlformats.org/drawingml/2006/main" w="0">
            <a:solidFill>
              <a:srgbClr val="F3ECE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76C19A6-A665-4F5A-BFE3-1CFE425EC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855595"/>
            <a:ext cx="677105" cy="293370"/>
          </a:xfrm>
          <a:prstGeom xmlns:a="http://schemas.openxmlformats.org/drawingml/2006/main" prst="roundRect">
            <a:avLst>
              <a:gd name="adj" fmla="val 6494"/>
            </a:avLst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BD00D9D-01F0-4108-AFF3-0A1511D4B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7305" y="2865120"/>
            <a:ext cx="419100" cy="350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7111F"/>
                </a:solidFill>
              </a:defRPr>
            </a:pPr>
            <a:r>
              <a:rPr sz="900" b="1">
                <a:solidFill>
                  <a:srgbClr val="07111F"/>
                </a:solidFill>
              </a:rPr>
              <a:t>29%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D70B596-C713-45E7-B470-F0AEC40B9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291840"/>
            <a:ext cx="1085850" cy="350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>
                <a:solidFill>
                  <a:srgbClr val="42526B"/>
                </a:solidFill>
              </a:defRPr>
            </a:pPr>
            <a:r>
              <a:rPr sz="825">
                <a:solidFill>
                  <a:srgbClr val="42526B"/>
                </a:solidFill>
              </a:rPr>
              <a:t>Choose Shapermint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5DC2BDC-9895-40F1-8701-779662621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301365"/>
            <a:ext cx="1628775" cy="293370"/>
          </a:xfrm>
          <a:prstGeom xmlns:a="http://schemas.openxmlformats.org/drawingml/2006/main" prst="roundRect">
            <a:avLst>
              <a:gd name="adj" fmla="val 6494"/>
            </a:avLst>
          </a:prstGeom>
          <a:solidFill xmlns:a="http://schemas.openxmlformats.org/drawingml/2006/main">
            <a:srgbClr val="F3ECE3"/>
          </a:solidFill>
          <a:ln xmlns:a="http://schemas.openxmlformats.org/drawingml/2006/main" w="0">
            <a:solidFill>
              <a:srgbClr val="F3ECE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60284B0-1FC9-4ACC-B0D6-0BAC24864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301365"/>
            <a:ext cx="258277" cy="293370"/>
          </a:xfrm>
          <a:prstGeom xmlns:a="http://schemas.openxmlformats.org/drawingml/2006/main" prst="roundRect">
            <a:avLst>
              <a:gd name="adj" fmla="val 7376"/>
            </a:avLst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E8C7060-3C2F-47F5-A980-37C289A5A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8477" y="3310890"/>
            <a:ext cx="419100" cy="350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7111F"/>
                </a:solidFill>
              </a:defRPr>
            </a:pPr>
            <a:r>
              <a:rPr sz="900" b="1">
                <a:solidFill>
                  <a:srgbClr val="07111F"/>
                </a:solidFill>
              </a:rPr>
              <a:t>11%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50BE886-03FA-4282-B09A-E318AAD63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737610"/>
            <a:ext cx="1085850" cy="350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>
                <a:solidFill>
                  <a:srgbClr val="42526B"/>
                </a:solidFill>
              </a:defRPr>
            </a:pPr>
            <a:r>
              <a:rPr sz="825">
                <a:solidFill>
                  <a:srgbClr val="42526B"/>
                </a:solidFill>
              </a:rPr>
              <a:t>Good value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4110B0D-033C-406B-8626-36A68AB9A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747135"/>
            <a:ext cx="1628775" cy="293370"/>
          </a:xfrm>
          <a:prstGeom xmlns:a="http://schemas.openxmlformats.org/drawingml/2006/main" prst="roundRect">
            <a:avLst>
              <a:gd name="adj" fmla="val 6494"/>
            </a:avLst>
          </a:prstGeom>
          <a:solidFill xmlns:a="http://schemas.openxmlformats.org/drawingml/2006/main">
            <a:srgbClr val="F3ECE3"/>
          </a:solidFill>
          <a:ln xmlns:a="http://schemas.openxmlformats.org/drawingml/2006/main" w="0">
            <a:solidFill>
              <a:srgbClr val="F3ECE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94D8E3C-CB24-4B03-A30C-FA9DD8BAE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747135"/>
            <a:ext cx="1286732" cy="293370"/>
          </a:xfrm>
          <a:prstGeom xmlns:a="http://schemas.openxmlformats.org/drawingml/2006/main" prst="roundRect">
            <a:avLst>
              <a:gd name="adj" fmla="val 6494"/>
            </a:avLst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D03B640-F106-4F68-8884-E296582B3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6932" y="3756660"/>
            <a:ext cx="419100" cy="350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7111F"/>
                </a:solidFill>
              </a:defRPr>
            </a:pPr>
            <a:r>
              <a:rPr sz="900" b="1">
                <a:solidFill>
                  <a:srgbClr val="07111F"/>
                </a:solidFill>
              </a:rPr>
              <a:t>55%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E1E73CC-0165-44A6-8BAE-61FF8A6AF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183380"/>
            <a:ext cx="1085850" cy="350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>
                <a:solidFill>
                  <a:srgbClr val="42526B"/>
                </a:solidFill>
              </a:defRPr>
            </a:pPr>
            <a:r>
              <a:rPr sz="825">
                <a:solidFill>
                  <a:srgbClr val="42526B"/>
                </a:solidFill>
              </a:rPr>
              <a:t>Pay more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CB0B96F-8536-4E2B-8846-B3C6FF81C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192905"/>
            <a:ext cx="1628775" cy="293370"/>
          </a:xfrm>
          <a:prstGeom xmlns:a="http://schemas.openxmlformats.org/drawingml/2006/main" prst="roundRect">
            <a:avLst>
              <a:gd name="adj" fmla="val 6494"/>
            </a:avLst>
          </a:prstGeom>
          <a:solidFill xmlns:a="http://schemas.openxmlformats.org/drawingml/2006/main">
            <a:srgbClr val="F3ECE3"/>
          </a:solidFill>
          <a:ln xmlns:a="http://schemas.openxmlformats.org/drawingml/2006/main" w="0">
            <a:solidFill>
              <a:srgbClr val="F3ECE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E0DD535-CEA9-4BD6-9CB9-310564667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192905"/>
            <a:ext cx="830675" cy="293370"/>
          </a:xfrm>
          <a:prstGeom xmlns:a="http://schemas.openxmlformats.org/drawingml/2006/main" prst="roundRect">
            <a:avLst>
              <a:gd name="adj" fmla="val 6494"/>
            </a:avLst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BBDD839-8D81-4642-A217-16A76CBE2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0875" y="4202430"/>
            <a:ext cx="419100" cy="350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7111F"/>
                </a:solidFill>
              </a:defRPr>
            </a:pPr>
            <a:r>
              <a:rPr sz="900" b="1">
                <a:solidFill>
                  <a:srgbClr val="07111F"/>
                </a:solidFill>
              </a:rPr>
              <a:t>36%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B7A59C9-47AA-4F9E-A637-AEC62DA02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4781550"/>
            <a:ext cx="819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59E0B"/>
                </a:solidFill>
              </a:defRPr>
            </a:pPr>
            <a:r>
              <a:rPr sz="1125" b="1">
                <a:solidFill>
                  <a:srgbClr val="F59E0B"/>
                </a:solidFill>
              </a:rPr>
              <a:t>40+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7CF2917-4A73-48F5-AAD4-995EA5E30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114550"/>
            <a:ext cx="33909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E7DED2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954D653-EF0F-4C15-B2C1-9121617C7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247900"/>
            <a:ext cx="914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7111F"/>
                </a:solidFill>
              </a:defRPr>
            </a:pPr>
            <a:r>
              <a:rPr sz="1275" b="1">
                <a:solidFill>
                  <a:srgbClr val="07111F"/>
                </a:solidFill>
              </a:rPr>
              <a:t>Same job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8C190628-FF39-4DDF-980D-BA6AE2927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228850"/>
            <a:ext cx="2076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42526B"/>
                </a:solidFill>
              </a:defRPr>
            </a:pPr>
            <a:r>
              <a:rPr sz="1013">
                <a:solidFill>
                  <a:srgbClr val="42526B"/>
                </a:solidFill>
              </a:rPr>
              <a:t>Aided awareness and consideration are close by age. Shapermint's gap is not one audience only.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15D5A81-D652-4325-9945-DC3ABBF5F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933700"/>
            <a:ext cx="33909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E7DED2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861B2B4-6485-45E6-9348-11571D0D6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067050"/>
            <a:ext cx="914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7111F"/>
                </a:solidFill>
              </a:defRPr>
            </a:pPr>
            <a:r>
              <a:rPr sz="1275" b="1">
                <a:solidFill>
                  <a:srgbClr val="07111F"/>
                </a:solidFill>
              </a:rPr>
              <a:t>Under 40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C8253A3D-0A7F-4F3D-8344-FE48FF6C4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048000"/>
            <a:ext cx="2076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42526B"/>
                </a:solidFill>
              </a:defRPr>
            </a:pPr>
            <a:r>
              <a:rPr sz="1013">
                <a:solidFill>
                  <a:srgbClr val="42526B"/>
                </a:solidFill>
              </a:rPr>
              <a:t>Skims dominates: 68% consider and 45% choose Skims. Shapermint is 27% / 6%.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7B98F121-9941-47B8-AF2B-4FD02AA12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3752850"/>
            <a:ext cx="33909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E7DED2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A220CD77-246B-49E8-854F-CDC3ECA03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886200"/>
            <a:ext cx="914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7111F"/>
                </a:solidFill>
              </a:defRPr>
            </a:pPr>
            <a:r>
              <a:rPr sz="1275" b="1">
                <a:solidFill>
                  <a:srgbClr val="07111F"/>
                </a:solidFill>
              </a:rPr>
              <a:t>40+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F744EA22-F8DA-4D90-87E0-06D587F7A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867150"/>
            <a:ext cx="2076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42526B"/>
                </a:solidFill>
              </a:defRPr>
            </a:pPr>
            <a:r>
              <a:rPr sz="1013">
                <a:solidFill>
                  <a:srgbClr val="42526B"/>
                </a:solidFill>
              </a:rPr>
              <a:t>Spanx leads choice at 40%; Maidenform becomes a major consideration brand at 48%.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84CE48BA-49C2-4431-9A23-A4732A820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4572000"/>
            <a:ext cx="33909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E7DED2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AEAB496F-04CF-467F-A637-1C3752BF8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705350"/>
            <a:ext cx="914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7111F"/>
                </a:solidFill>
              </a:defRPr>
            </a:pPr>
            <a:r>
              <a:rPr sz="1275" b="1">
                <a:solidFill>
                  <a:srgbClr val="07111F"/>
                </a:solidFill>
              </a:rPr>
              <a:t>Where to win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C1DEBBB1-35DE-4B8A-B726-A30317D03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686300"/>
            <a:ext cx="2076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42526B"/>
                </a:solidFill>
              </a:defRPr>
            </a:pPr>
            <a:r>
              <a:rPr sz="1013">
                <a:solidFill>
                  <a:srgbClr val="42526B"/>
                </a:solidFill>
              </a:rPr>
              <a:t>Shapermint earns similar 'real women / no fight' association in both groups, but only 12-14% ownership.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13D77B7C-F6DF-4196-B1B1-B5BA45379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5562600"/>
            <a:ext cx="37147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C1726"/>
          </a:solidFill>
          <a:ln xmlns:a="http://schemas.openxmlformats.org/drawingml/2006/main" w="0">
            <a:solidFill>
              <a:srgbClr val="0C1726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6909CAAA-B42E-4370-86A2-5C6442815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5629275"/>
            <a:ext cx="3486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Same promise, age-specific proof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E89DE263-9B15-43C0-9B15-A95D26257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858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6B7280"/>
                </a:solidFill>
              </a:defRPr>
            </a:pPr>
            <a:r>
              <a:rPr sz="825">
                <a:solidFill>
                  <a:srgbClr val="6B7280"/>
                </a:solidFill>
              </a:rPr>
              <a:t>Source: supplied Q4 2025 age-filtered exports export-10198 (1)/(2), n=607 under 40 and n=977 age 40+. Q2 2026 Q17-Q19 by-age cut still not supplied.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77B9A63C-53FC-44B3-B5C2-5719B1FBC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6515100"/>
            <a:ext cx="2133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42526B"/>
                </a:solidFill>
              </a:defRPr>
            </a:pPr>
            <a:r>
              <a:rPr sz="825" b="1">
                <a:solidFill>
                  <a:srgbClr val="42526B"/>
                </a:solidFill>
              </a:rPr>
              <a:t>US Brand Tracker | Shapermint</a:t>
            </a:r>
          </a:p>
        </p:txBody>
      </p:sp>
    </p:spTree>
    <p:extLst>
      <p:ext uri="{BB962C8B-B14F-4D97-AF65-F5344CB8AC3E}">
        <p14:creationId xmlns:p14="http://schemas.microsoft.com/office/powerpoint/2010/main" val="192563614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8DD0DE2-54E0-49C3-BE6E-DA4BC29AA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191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7C3AED"/>
                </a:solidFill>
              </a:defRPr>
            </a:pPr>
            <a:r>
              <a:rPr sz="900" b="1">
                <a:solidFill>
                  <a:srgbClr val="7C3AED"/>
                </a:solidFill>
              </a:rPr>
              <a:t>MAKE SHAPERMINT THE BRAND THAT STOPS ASKING WOMEN TO ADAPT.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E68FB2F-A44A-4533-9277-AF399D776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8382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7111F"/>
                </a:solidFill>
              </a:defRPr>
            </a:pPr>
            <a:r>
              <a:rPr sz="3000" b="1">
                <a:solidFill>
                  <a:srgbClr val="07111F"/>
                </a:solidFill>
              </a:rPr>
              <a:t>Reshaping the Rules should be built as a memory system, not a one-off message.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A4752F-7966-4B76-A20D-5CB3E86B1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38350"/>
            <a:ext cx="48006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E7DED2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AF6E2F-BAF2-4FC4-94A5-2357FB467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209800"/>
            <a:ext cx="4381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7C3AE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4F2AFD-EB3D-441F-BC46-CCF0E65D4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276475"/>
            <a:ext cx="209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3D721B6-C5B0-48FB-A5BB-FFADB7826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20980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7111F"/>
                </a:solidFill>
              </a:defRPr>
            </a:pPr>
            <a:r>
              <a:rPr sz="1650" b="1">
                <a:solidFill>
                  <a:srgbClr val="07111F"/>
                </a:solidFill>
              </a:rPr>
              <a:t>Single promise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61B7A3-4A50-425D-AC22-93AAEB663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552700"/>
            <a:ext cx="3619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42526B"/>
                </a:solidFill>
              </a:defRPr>
            </a:pPr>
            <a:r>
              <a:rPr sz="1200">
                <a:solidFill>
                  <a:srgbClr val="42526B"/>
                </a:solidFill>
              </a:rPr>
              <a:t>Shapermint adapts to my body and life stage.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72C2E4-944E-4781-B5A9-EEECD93B9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038350"/>
            <a:ext cx="48006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E7DED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C11E897-5378-4740-A432-1C5A02E72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209800"/>
            <a:ext cx="4381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C1726"/>
          </a:solidFill>
          <a:ln xmlns:a="http://schemas.openxmlformats.org/drawingml/2006/main" w="0">
            <a:solidFill>
              <a:srgbClr val="0C172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B0077D8-3DBB-4711-BC8E-C722B072F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276475"/>
            <a:ext cx="209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05E5C6E-F2B9-4041-A1BA-B97C78141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20980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7111F"/>
                </a:solidFill>
              </a:defRPr>
            </a:pPr>
            <a:r>
              <a:rPr sz="1650" b="1">
                <a:solidFill>
                  <a:srgbClr val="07111F"/>
                </a:solidFill>
              </a:rPr>
              <a:t>Proof system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C8C46E5-0D58-4BFC-A392-81BECBCBE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552700"/>
            <a:ext cx="3619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42526B"/>
                </a:solidFill>
              </a:defRPr>
            </a:pPr>
            <a:r>
              <a:rPr sz="1200">
                <a:solidFill>
                  <a:srgbClr val="42526B"/>
                </a:solidFill>
              </a:rPr>
              <a:t>Medium compression, everyday comfort, fit flexibility, and real-life movement.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43C04E6-18AD-4A15-B912-ECA2739EC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90900"/>
            <a:ext cx="48006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E7DED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9A7BF59-9704-4F58-9137-D509AF188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562350"/>
            <a:ext cx="4381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C1726"/>
          </a:solidFill>
          <a:ln xmlns:a="http://schemas.openxmlformats.org/drawingml/2006/main" w="0">
            <a:solidFill>
              <a:srgbClr val="0C172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F830820-AFB0-46D5-9C9D-C6D654825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629025"/>
            <a:ext cx="209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60CF05F-1186-4D7D-9242-2E5E124A2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5623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7111F"/>
                </a:solidFill>
              </a:defRPr>
            </a:pPr>
            <a:r>
              <a:rPr sz="1650" b="1">
                <a:solidFill>
                  <a:srgbClr val="07111F"/>
                </a:solidFill>
              </a:rPr>
              <a:t>Brand cues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C01AF40-B7E4-4BE1-A105-DC21856DB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905250"/>
            <a:ext cx="3619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42526B"/>
                </a:solidFill>
              </a:defRPr>
            </a:pPr>
            <a:r>
              <a:rPr sz="1200">
                <a:solidFill>
                  <a:srgbClr val="42526B"/>
                </a:solidFill>
              </a:rPr>
              <a:t>Repeat one phrase, one visual grammar, and one product proof everywhere.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E29E19F-00A4-4A8B-8A4C-738FADA7C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390900"/>
            <a:ext cx="48006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DF9"/>
          </a:solidFill>
          <a:ln xmlns:a="http://schemas.openxmlformats.org/drawingml/2006/main" w="9525">
            <a:solidFill>
              <a:srgbClr val="E7DED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1EBC418-5215-4C74-9207-A11073849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562350"/>
            <a:ext cx="4381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C1726"/>
          </a:solidFill>
          <a:ln xmlns:a="http://schemas.openxmlformats.org/drawingml/2006/main" w="0">
            <a:solidFill>
              <a:srgbClr val="0C172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8A3BF07-01CB-45E8-A60B-888794E1E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629025"/>
            <a:ext cx="209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7AA2FCD-648D-4868-B838-0CBB3F61B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5623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7111F"/>
                </a:solidFill>
              </a:defRPr>
            </a:pPr>
            <a:r>
              <a:rPr sz="1650" b="1">
                <a:solidFill>
                  <a:srgbClr val="07111F"/>
                </a:solidFill>
              </a:rPr>
              <a:t>Media reinforcement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4B2EDAE-ABDD-40F9-B2F9-6CBEEC1BD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905250"/>
            <a:ext cx="3619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42526B"/>
                </a:solidFill>
              </a:defRPr>
            </a:pPr>
            <a:r>
              <a:rPr sz="1200">
                <a:solidFill>
                  <a:srgbClr val="42526B"/>
                </a:solidFill>
              </a:rPr>
              <a:t>Use Facebook + search for reach, Amazon/retail for proof, TikTok for selective top-funnel testing.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7F6CADD-8369-4E58-BBEA-280D91A15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086350"/>
            <a:ext cx="962025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0C1726"/>
          </a:solidFill>
          <a:ln xmlns:a="http://schemas.openxmlformats.org/drawingml/2006/main" w="0">
            <a:solidFill>
              <a:srgbClr val="0C1726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B86F01F-2B94-4008-8F01-D5AA28E55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2959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Measurement plan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E9416FC-75B2-49C2-B9B2-8D269814B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5257800"/>
            <a:ext cx="7048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FFFFFF"/>
                </a:solidFill>
              </a:defRPr>
            </a:pPr>
            <a:r>
              <a:rPr sz="1350">
                <a:solidFill>
                  <a:srgbClr val="FFFFFF"/>
                </a:solidFill>
              </a:rPr>
              <a:t>Track aided + unaided lift, Q18 'Shapermint is moving beyond' share, Q19 hook recall, purchase intent, and Q17-Q19 by age once raw data is available.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EF997F2-A912-47A1-89AB-0E3B2BC42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858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6B7280"/>
                </a:solidFill>
              </a:defRPr>
            </a:pPr>
            <a:r>
              <a:rPr sz="825">
                <a:solidFill>
                  <a:srgbClr val="6B7280"/>
                </a:solidFill>
              </a:rPr>
              <a:t>Source: Q2 2026 Brand Tracker Q17-Q19, Q13-Q14, Q22-Q23; campaign recommendation synthesized from tracker evidence.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79CB73F-483C-4C7F-84C6-7862B2A84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6515100"/>
            <a:ext cx="2133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42526B"/>
                </a:solidFill>
              </a:defRPr>
            </a:pPr>
            <a:r>
              <a:rPr sz="825" b="1">
                <a:solidFill>
                  <a:srgbClr val="42526B"/>
                </a:solidFill>
              </a:rPr>
              <a:t>US Brand Tracker | Shapermint</a:t>
            </a:r>
          </a:p>
        </p:txBody>
      </p:sp>
    </p:spTree>
    <p:extLst>
      <p:ext uri="{BB962C8B-B14F-4D97-AF65-F5344CB8AC3E}">
        <p14:creationId xmlns:p14="http://schemas.microsoft.com/office/powerpoint/2010/main" val="150359448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2026-07-20T11:21:14.8560000Z</dcterms:created>
  <dcterms:modified xsi:type="dcterms:W3CDTF">2026-07-20T11:21:14.8560000Z</dcterms:modified>
</coreProperties>
</file>